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Space Grotesk" pitchFamily="34" charset="0"/>
      <p:regular r:id="rId27"/>
      <p:bold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three modules: elevator (control logic), stepper_motor, seven_seg_disp, tied together by elevator_cont_Machine.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implemented and verified at the software (RTL simulation)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 number = floor number. Example: req_floor = 0100 means floor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of the top module: door_state, over_weight_alert, disp, 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chart: request, compare with current floor, overweight check, then up or down. The code uses 2-bit floors f0..f3.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is illustrative. The key point: requests behind the car wait for the reverse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module instantiates ec1 (elevator), sm1 (stepper_motor), ssd1 (seven_seg_disp).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calls exist only for floors 0 to 2 and down calls only for floors 1 to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runs when current_floor changes or st, complete or rpt1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codes: 01 up, 10 down, 11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matching direction array is cleared: up array on an up sweep, down array on a down sweep, and flr_req_arr in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Delays are simulation delays, so they model real motion and door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step per clock edge, so clock speed sets motor speed. The elevator block decides how long to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waveform, q toggles through these patterns while the elevator moves, and stays flat when it is idle.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 order on disp is as written in seven_seg_disp.v. Top module hooks all three blocks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simulation screenshot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simulation screenshot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simulation slides for each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design is behavioural and simulation-only; this is the path to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behaviour verified in ISim waveforms. Names of presenters can go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EFE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4153932" cy="474980"/>
          </a:xfrm>
          <a:prstGeom prst="rect">
            <a:avLst/>
          </a:prstGeom>
          <a:noFill/>
          <a:ln/>
        </p:spPr>
        <p:txBody>
          <a:bodyPr wrap="square" lIns="0" tIns="0" rIns="0" bIns="0" rtlCol="0" anchor="t"/>
          <a:lstStyle>
            <a:lvl1pPr algn="l" indent="0" marL="0">
              <a:lnSpc>
                <a:spcPct val="115000"/>
              </a:lnSpc>
              <a:buNone/>
              <a:defRPr lang="en-US" sz="3400" dirty="0">
                <a:solidFill>
                  <a:srgbClr val="12161F"/>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592580"/>
            <a:ext cx="10566400" cy="4452620"/>
          </a:xfrm>
          <a:prstGeom prst="rect">
            <a:avLst/>
          </a:prstGeom>
          <a:noFill/>
          <a:ln/>
        </p:spPr>
        <p:txBody>
          <a:bodyPr wrap="square" lIns="0" tIns="0" rIns="0" bIns="0" rtlCol="0" anchor="t"/>
          <a:lstStyle>
            <a:lvl1pPr algn="l" indent="0" marL="0">
              <a:lnSpc>
                <a:spcPct val="140000"/>
              </a:lnSpc>
              <a:buNone/>
              <a:defRPr lang="en-US" sz="1600" dirty="0">
                <a:solidFill>
                  <a:srgbClr val="12161F"/>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EFE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4153932" cy="474980"/>
          </a:xfrm>
          <a:prstGeom prst="rect">
            <a:avLst/>
          </a:prstGeom>
          <a:noFill/>
          <a:ln/>
        </p:spPr>
        <p:txBody>
          <a:bodyPr wrap="square" lIns="0" tIns="0" rIns="0" bIns="0" rtlCol="0" anchor="t"/>
          <a:lstStyle>
            <a:lvl1pPr algn="l" indent="0" marL="0">
              <a:lnSpc>
                <a:spcPct val="115000"/>
              </a:lnSpc>
              <a:buNone/>
              <a:defRPr lang="en-US" sz="3400" dirty="0">
                <a:solidFill>
                  <a:srgbClr val="12161F"/>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592580"/>
            <a:ext cx="10566400" cy="4452620"/>
          </a:xfrm>
          <a:prstGeom prst="rect">
            <a:avLst/>
          </a:prstGeom>
          <a:noFill/>
          <a:ln/>
        </p:spPr>
        <p:txBody>
          <a:bodyPr wrap="square" lIns="0" tIns="0" rIns="0" bIns="0" rtlCol="0" anchor="t"/>
          <a:lstStyle>
            <a:lvl1pPr algn="l" indent="0" marL="0">
              <a:lnSpc>
                <a:spcPct val="140000"/>
              </a:lnSpc>
              <a:buNone/>
              <a:defRPr lang="en-US" sz="1600" dirty="0">
                <a:solidFill>
                  <a:srgbClr val="12161F"/>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33A"/>
                </a:solidFill>
                <a:latin typeface="Space Grotesk" pitchFamily="34" charset="0"/>
                <a:ea typeface="Space Grotesk" pitchFamily="34" charset="-122"/>
                <a:cs typeface="Space Grotesk" pitchFamily="34" charset="-120"/>
              </a:rPr>
              <a:t>VLSI LAB PROJECT</a:t>
            </a:r>
            <a:endParaRPr lang="en-US" sz="1500" dirty="0"/>
          </a:p>
        </p:txBody>
      </p:sp>
      <p:sp>
        <p:nvSpPr>
          <p:cNvPr id="3" name="Text 1"/>
          <p:cNvSpPr/>
          <p:nvPr>
            <p:ph type="title"/>
          </p:nvPr>
        </p:nvSpPr>
        <p:spPr>
          <a:xfrm>
            <a:off x="812800" y="1333500"/>
            <a:ext cx="10883392" cy="1358900"/>
          </a:xfrm>
          <a:prstGeom prst="rect">
            <a:avLst/>
          </a:prstGeom>
          <a:noFill/>
          <a:ln/>
        </p:spPr>
        <p:txBody>
          <a:bodyPr wrap="square" lIns="0" tIns="0" rIns="0" bIns="0" rtlCol="0" anchor="t">
            <a:normAutofit/>
          </a:bodyPr>
          <a:lstStyle/>
          <a:p>
            <a:pPr algn="l" indent="0" marL="0">
              <a:lnSpc>
                <a:spcPts val="5250"/>
              </a:lnSpc>
              <a:buNone/>
            </a:pPr>
            <a:r>
              <a:rPr lang="en-US" sz="5000" b="1" i="0" dirty="0">
                <a:solidFill>
                  <a:srgbClr val="F3EFE6"/>
                </a:solidFill>
                <a:latin typeface="Space Grotesk" pitchFamily="34" charset="0"/>
                <a:ea typeface="Space Grotesk" pitchFamily="34" charset="-122"/>
                <a:cs typeface="Space Grotesk" pitchFamily="34" charset="-120"/>
              </a:rPr>
              <a:t>Elevator Controller</a:t>
            </a:r>
            <a:endParaRPr lang="en-US" sz="5000" dirty="0"/>
          </a:p>
          <a:p>
            <a:pPr algn="l" indent="0" marL="0">
              <a:lnSpc>
                <a:spcPts val="5250"/>
              </a:lnSpc>
              <a:buNone/>
            </a:pPr>
            <a:r>
              <a:rPr lang="en-US" sz="5000" b="1" i="0" dirty="0">
                <a:solidFill>
                  <a:srgbClr val="F3EFE6"/>
                </a:solidFill>
                <a:latin typeface="Space Grotesk" pitchFamily="34" charset="0"/>
                <a:ea typeface="Space Grotesk" pitchFamily="34" charset="-122"/>
                <a:cs typeface="Space Grotesk" pitchFamily="34" charset="-120"/>
              </a:rPr>
              <a:t>in Verilog HDL</a:t>
            </a:r>
            <a:endParaRPr lang="en-US" sz="5000" dirty="0"/>
          </a:p>
        </p:txBody>
      </p:sp>
      <p:sp>
        <p:nvSpPr>
          <p:cNvPr id="4" name="Text 2"/>
          <p:cNvSpPr/>
          <p:nvPr/>
        </p:nvSpPr>
        <p:spPr>
          <a:xfrm>
            <a:off x="812800" y="292100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3B4"/>
                </a:solidFill>
                <a:latin typeface="Space Grotesk" pitchFamily="34" charset="0"/>
                <a:ea typeface="Space Grotesk" pitchFamily="34" charset="-122"/>
                <a:cs typeface="Space Grotesk" pitchFamily="34" charset="-120"/>
              </a:rPr>
              <a:t>4-floor SCAN scheduling, stepper motor drive and 7-segment floor display, simulated in ISim</a:t>
            </a:r>
            <a:endParaRPr lang="en-US" sz="1800" dirty="0"/>
          </a:p>
        </p:txBody>
      </p:sp>
      <p:sp>
        <p:nvSpPr>
          <p:cNvPr id="5" name="Text 3"/>
          <p:cNvSpPr/>
          <p:nvPr/>
        </p:nvSpPr>
        <p:spPr>
          <a:xfrm>
            <a:off x="812800" y="34950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B8A5"/>
                </a:solidFill>
                <a:latin typeface="Space Grotesk" pitchFamily="34" charset="0"/>
                <a:ea typeface="Space Grotesk" pitchFamily="34" charset="-122"/>
                <a:cs typeface="Space Grotesk" pitchFamily="34" charset="-120"/>
              </a:rPr>
              <a:t>Team: [Member 1] · [Member 2] · [Member 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2635377"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Objectives</a:t>
            </a:r>
            <a:endParaRPr lang="en-US" sz="3400" dirty="0"/>
          </a:p>
        </p:txBody>
      </p:sp>
      <p:sp>
        <p:nvSpPr>
          <p:cNvPr id="3" name="Shape 1"/>
          <p:cNvSpPr/>
          <p:nvPr/>
        </p:nvSpPr>
        <p:spPr>
          <a:xfrm>
            <a:off x="819150" y="1548130"/>
            <a:ext cx="5181600" cy="1574800"/>
          </a:xfrm>
          <a:prstGeom prst="roundRect">
            <a:avLst>
              <a:gd name="adj" fmla="val 6048"/>
            </a:avLst>
          </a:prstGeom>
          <a:solidFill>
            <a:srgbClr val="FFFDF8"/>
          </a:solidFill>
          <a:ln w="12700">
            <a:solidFill>
              <a:srgbClr val="DDD5C4"/>
            </a:solidFill>
            <a:prstDash val="solid"/>
          </a:ln>
        </p:spPr>
      </p:sp>
      <p:sp>
        <p:nvSpPr>
          <p:cNvPr id="4" name="Text 2"/>
          <p:cNvSpPr/>
          <p:nvPr/>
        </p:nvSpPr>
        <p:spPr>
          <a:xfrm>
            <a:off x="1051560" y="1780540"/>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Control</a:t>
            </a:r>
            <a:endParaRPr lang="en-US" sz="1800" dirty="0"/>
          </a:p>
        </p:txBody>
      </p:sp>
      <p:sp>
        <p:nvSpPr>
          <p:cNvPr id="5" name="Text 3"/>
          <p:cNvSpPr/>
          <p:nvPr/>
        </p:nvSpPr>
        <p:spPr>
          <a:xfrm>
            <a:off x="1051560" y="2143760"/>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Design a digital logic circuit that moves an elevator through 4 floors, f0 to f3, held in a 2-bit register current_floor.</a:t>
            </a:r>
            <a:endParaRPr lang="en-US" sz="1400" dirty="0"/>
          </a:p>
        </p:txBody>
      </p:sp>
      <p:sp>
        <p:nvSpPr>
          <p:cNvPr id="6" name="Shape 4"/>
          <p:cNvSpPr/>
          <p:nvPr/>
        </p:nvSpPr>
        <p:spPr>
          <a:xfrm>
            <a:off x="6191250" y="1548130"/>
            <a:ext cx="5181600" cy="1574800"/>
          </a:xfrm>
          <a:prstGeom prst="roundRect">
            <a:avLst>
              <a:gd name="adj" fmla="val 6048"/>
            </a:avLst>
          </a:prstGeom>
          <a:solidFill>
            <a:srgbClr val="FFFDF8"/>
          </a:solidFill>
          <a:ln w="12700">
            <a:solidFill>
              <a:srgbClr val="DDD5C4"/>
            </a:solidFill>
            <a:prstDash val="solid"/>
          </a:ln>
        </p:spPr>
      </p:sp>
      <p:sp>
        <p:nvSpPr>
          <p:cNvPr id="7" name="Text 5"/>
          <p:cNvSpPr/>
          <p:nvPr/>
        </p:nvSpPr>
        <p:spPr>
          <a:xfrm>
            <a:off x="6423660" y="1780540"/>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Schedule</a:t>
            </a:r>
            <a:endParaRPr lang="en-US" sz="1800" dirty="0"/>
          </a:p>
        </p:txBody>
      </p:sp>
      <p:sp>
        <p:nvSpPr>
          <p:cNvPr id="8" name="Text 6"/>
          <p:cNvSpPr/>
          <p:nvPr/>
        </p:nvSpPr>
        <p:spPr>
          <a:xfrm>
            <a:off x="6423660" y="2143760"/>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Use the SCAN algorithm so requests are served in the direction of travel before reversing, which cuts waiting time.</a:t>
            </a:r>
            <a:endParaRPr lang="en-US" sz="1400" dirty="0"/>
          </a:p>
        </p:txBody>
      </p:sp>
      <p:sp>
        <p:nvSpPr>
          <p:cNvPr id="9" name="Shape 7"/>
          <p:cNvSpPr/>
          <p:nvPr/>
        </p:nvSpPr>
        <p:spPr>
          <a:xfrm>
            <a:off x="819150" y="3389630"/>
            <a:ext cx="5181600" cy="1574800"/>
          </a:xfrm>
          <a:prstGeom prst="roundRect">
            <a:avLst>
              <a:gd name="adj" fmla="val 6048"/>
            </a:avLst>
          </a:prstGeom>
          <a:solidFill>
            <a:srgbClr val="FFFDF8"/>
          </a:solidFill>
          <a:ln w="12700">
            <a:solidFill>
              <a:srgbClr val="DDD5C4"/>
            </a:solidFill>
            <a:prstDash val="solid"/>
          </a:ln>
        </p:spPr>
      </p:sp>
      <p:sp>
        <p:nvSpPr>
          <p:cNvPr id="10" name="Text 8"/>
          <p:cNvSpPr/>
          <p:nvPr/>
        </p:nvSpPr>
        <p:spPr>
          <a:xfrm>
            <a:off x="1051560" y="3622040"/>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Interface</a:t>
            </a:r>
            <a:endParaRPr lang="en-US" sz="1800" dirty="0"/>
          </a:p>
        </p:txBody>
      </p:sp>
      <p:sp>
        <p:nvSpPr>
          <p:cNvPr id="11" name="Text 9"/>
          <p:cNvSpPr/>
          <p:nvPr/>
        </p:nvSpPr>
        <p:spPr>
          <a:xfrm>
            <a:off x="1051560" y="3985260"/>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Let users press up/down call buttons, choose a floor inside the cabin, open or close the door, and see the floor on a display.</a:t>
            </a:r>
            <a:endParaRPr lang="en-US" sz="1400" dirty="0"/>
          </a:p>
        </p:txBody>
      </p:sp>
      <p:sp>
        <p:nvSpPr>
          <p:cNvPr id="12" name="Shape 10"/>
          <p:cNvSpPr/>
          <p:nvPr/>
        </p:nvSpPr>
        <p:spPr>
          <a:xfrm>
            <a:off x="6191250" y="3389630"/>
            <a:ext cx="5181600" cy="1574800"/>
          </a:xfrm>
          <a:prstGeom prst="roundRect">
            <a:avLst>
              <a:gd name="adj" fmla="val 6048"/>
            </a:avLst>
          </a:prstGeom>
          <a:solidFill>
            <a:srgbClr val="FFFDF8"/>
          </a:solidFill>
          <a:ln w="12700">
            <a:solidFill>
              <a:srgbClr val="DDD5C4"/>
            </a:solidFill>
            <a:prstDash val="solid"/>
          </a:ln>
        </p:spPr>
      </p:sp>
      <p:sp>
        <p:nvSpPr>
          <p:cNvPr id="13" name="Text 11"/>
          <p:cNvSpPr/>
          <p:nvPr/>
        </p:nvSpPr>
        <p:spPr>
          <a:xfrm>
            <a:off x="6423660" y="3622040"/>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Peripherals</a:t>
            </a:r>
            <a:endParaRPr lang="en-US" sz="1800" dirty="0"/>
          </a:p>
        </p:txBody>
      </p:sp>
      <p:sp>
        <p:nvSpPr>
          <p:cNvPr id="14" name="Text 12"/>
          <p:cNvSpPr/>
          <p:nvPr/>
        </p:nvSpPr>
        <p:spPr>
          <a:xfrm>
            <a:off x="6423660" y="3985260"/>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Model a 4-phase stepper motor driver, a 7-segment display decoder and an overload sensor input, all verified by simulation in Verilog.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613630"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3EFE6"/>
                </a:solidFill>
                <a:latin typeface="Space Grotesk" pitchFamily="34" charset="0"/>
                <a:ea typeface="Space Grotesk" pitchFamily="34" charset="-122"/>
                <a:cs typeface="Space Grotesk" pitchFamily="34" charset="-120"/>
              </a:rPr>
              <a:t>Inputs</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51940"/>
          <a:ext cx="10556240" cy="3815080"/>
        </p:xfrm>
        <a:graphic>
          <a:graphicData uri="http://schemas.openxmlformats.org/drawingml/2006/table">
            <a:tbl>
              <a:tblPr/>
              <a:tblGrid>
                <a:gridCol w="3518747"/>
                <a:gridCol w="3518747"/>
                <a:gridCol w="3518747"/>
              </a:tblGrid>
              <a:tr h="383540">
                <a:tc>
                  <a:txBody>
                    <a:bodyPr/>
                    <a:lstStyle/>
                    <a:p>
                      <a:pPr indent="0" marL="0">
                        <a:lnSpc>
                          <a:spcPts val="1960"/>
                        </a:lnSpc>
                        <a:buNone/>
                      </a:pPr>
                      <a:r>
                        <a:rPr lang="en-US" sz="1400" b="1" dirty="0">
                          <a:solidFill>
                            <a:srgbClr val="F3EFE6"/>
                          </a:solidFill>
                          <a:latin typeface="Space Grotesk" pitchFamily="34" charset="0"/>
                          <a:ea typeface="Space Grotesk" pitchFamily="34" charset="-122"/>
                          <a:cs typeface="Space Grotesk" pitchFamily="34" charset="-120"/>
                        </a:rPr>
                        <a:t>Signal</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30"/>
                    </a:solidFill>
                  </a:tcPr>
                </a:tc>
                <a:tc>
                  <a:txBody>
                    <a:bodyPr/>
                    <a:lstStyle/>
                    <a:p>
                      <a:pPr indent="0" marL="0">
                        <a:lnSpc>
                          <a:spcPts val="1960"/>
                        </a:lnSpc>
                        <a:buNone/>
                      </a:pPr>
                      <a:r>
                        <a:rPr lang="en-US" sz="1400" b="1" dirty="0">
                          <a:solidFill>
                            <a:srgbClr val="F3EFE6"/>
                          </a:solidFill>
                          <a:latin typeface="Space Grotesk" pitchFamily="34" charset="0"/>
                          <a:ea typeface="Space Grotesk" pitchFamily="34" charset="-122"/>
                          <a:cs typeface="Space Grotesk" pitchFamily="34" charset="-120"/>
                        </a:rPr>
                        <a:t>Width</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54565B"/>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30"/>
                    </a:solidFill>
                  </a:tcPr>
                </a:tc>
                <a:tc>
                  <a:txBody>
                    <a:bodyPr/>
                    <a:lstStyle/>
                    <a:p>
                      <a:pPr indent="0" marL="0">
                        <a:lnSpc>
                          <a:spcPts val="1960"/>
                        </a:lnSpc>
                        <a:buNone/>
                      </a:pPr>
                      <a:r>
                        <a:rPr lang="en-US" sz="1400" b="1" dirty="0">
                          <a:solidFill>
                            <a:srgbClr val="F3EFE6"/>
                          </a:solidFill>
                          <a:latin typeface="Space Grotesk" pitchFamily="34" charset="0"/>
                          <a:ea typeface="Space Grotesk" pitchFamily="34" charset="-122"/>
                          <a:cs typeface="Space Grotesk" pitchFamily="34" charset="-120"/>
                        </a:rPr>
                        <a:t>Meaning</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54565B"/>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30"/>
                    </a:solidFill>
                  </a:tcPr>
                </a:tc>
              </a:tr>
              <a:tr h="63246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move_up_call</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4 bits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Hall button: passenger wants to go up (bits 0 to 2 used)</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63246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move_down_call</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4 bits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Hall button: passenger wants to go down (bits 1 to 3 used)</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63246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req_floor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4 bits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Button inside the cabin: destination floor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open_door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Reopen the door and wait extra time</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close_door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Close the door immediately</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over_weight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Sensor: 1 when load is above 750 kg</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clk, rst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 bit each</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Clock for stepper and display; reset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7154323"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Outputs and Internal Signals</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51940"/>
          <a:ext cx="10556240" cy="2933700"/>
        </p:xfrm>
        <a:graphic>
          <a:graphicData uri="http://schemas.openxmlformats.org/drawingml/2006/table">
            <a:tbl>
              <a:tblPr/>
              <a:tblGrid>
                <a:gridCol w="3518747"/>
                <a:gridCol w="3518747"/>
                <a:gridCol w="3518747"/>
              </a:tblGrid>
              <a:tr h="383540">
                <a:tc>
                  <a:txBody>
                    <a:bodyPr/>
                    <a:lstStyle/>
                    <a:p>
                      <a:pPr indent="0" marL="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Signal</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Width</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Meaning</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r>
              <a:tr h="383540">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current_floor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2 bits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00 = f0, 01 = f1, 10 = f2, 11 = f3</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direction</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2 bits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 = up, 10 = down, 11 = stop</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door_state</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 open, 0 = closed</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over_weight_alert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while the cabin is overloaded</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q</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4 bits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Stepper motor coil pattern</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632460">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disp</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8 bits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Seven-segment pattern for current_floor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4" name="Text 1"/>
          <p:cNvSpPr/>
          <p:nvPr/>
        </p:nvSpPr>
        <p:spPr>
          <a:xfrm>
            <a:off x="812800" y="473964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446"/>
                </a:solidFill>
                <a:latin typeface="Space Grotesk" pitchFamily="34" charset="0"/>
                <a:ea typeface="Space Grotesk" pitchFamily="34" charset="-122"/>
                <a:cs typeface="Space Grotesk" pitchFamily="34" charset="-120"/>
              </a:rPr>
              <a:t>current_floor and direction are internal wires in the top module; they feed the display and the motor.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3372707"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3EFE6"/>
                </a:solidFill>
                <a:latin typeface="Space Grotesk" pitchFamily="34" charset="0"/>
                <a:ea typeface="Space Grotesk" pitchFamily="34" charset="-122"/>
                <a:cs typeface="Space Grotesk" pitchFamily="34" charset="-120"/>
              </a:rPr>
              <a:t>Methodology</a:t>
            </a:r>
            <a:endParaRPr lang="en-US" sz="3400" dirty="0"/>
          </a:p>
        </p:txBody>
      </p:sp>
      <p:sp>
        <p:nvSpPr>
          <p:cNvPr id="3" name="Shape 1"/>
          <p:cNvSpPr/>
          <p:nvPr/>
        </p:nvSpPr>
        <p:spPr>
          <a:xfrm>
            <a:off x="819150" y="1548132"/>
            <a:ext cx="2495550" cy="1325880"/>
          </a:xfrm>
          <a:prstGeom prst="roundRect">
            <a:avLst>
              <a:gd name="adj" fmla="val 7184"/>
            </a:avLst>
          </a:prstGeom>
          <a:solidFill>
            <a:srgbClr val="1C2231"/>
          </a:solidFill>
          <a:ln w="12700">
            <a:solidFill>
              <a:srgbClr val="2A3142"/>
            </a:solidFill>
            <a:prstDash val="solid"/>
          </a:ln>
        </p:spPr>
      </p:sp>
      <p:sp>
        <p:nvSpPr>
          <p:cNvPr id="4" name="Text 2"/>
          <p:cNvSpPr/>
          <p:nvPr/>
        </p:nvSpPr>
        <p:spPr>
          <a:xfrm>
            <a:off x="1051560" y="1780539"/>
            <a:ext cx="209165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1. Request</a:t>
            </a:r>
            <a:endParaRPr lang="en-US" sz="1800" dirty="0"/>
          </a:p>
        </p:txBody>
      </p:sp>
      <p:sp>
        <p:nvSpPr>
          <p:cNvPr id="5" name="Text 3"/>
          <p:cNvSpPr/>
          <p:nvPr/>
        </p:nvSpPr>
        <p:spPr>
          <a:xfrm>
            <a:off x="1051560" y="2143761"/>
            <a:ext cx="209165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A floor call or in-cabin request is raised.</a:t>
            </a:r>
            <a:endParaRPr lang="en-US" sz="1400" dirty="0"/>
          </a:p>
        </p:txBody>
      </p:sp>
      <p:sp>
        <p:nvSpPr>
          <p:cNvPr id="6" name="Shape 4"/>
          <p:cNvSpPr/>
          <p:nvPr/>
        </p:nvSpPr>
        <p:spPr>
          <a:xfrm>
            <a:off x="3505200" y="1548132"/>
            <a:ext cx="2495550" cy="1325880"/>
          </a:xfrm>
          <a:prstGeom prst="roundRect">
            <a:avLst>
              <a:gd name="adj" fmla="val 7184"/>
            </a:avLst>
          </a:prstGeom>
          <a:solidFill>
            <a:srgbClr val="1C2231"/>
          </a:solidFill>
          <a:ln w="12700">
            <a:solidFill>
              <a:srgbClr val="2A3142"/>
            </a:solidFill>
            <a:prstDash val="solid"/>
          </a:ln>
        </p:spPr>
      </p:sp>
      <p:sp>
        <p:nvSpPr>
          <p:cNvPr id="7" name="Text 5"/>
          <p:cNvSpPr/>
          <p:nvPr/>
        </p:nvSpPr>
        <p:spPr>
          <a:xfrm>
            <a:off x="3737610" y="1780539"/>
            <a:ext cx="209165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2. Compare</a:t>
            </a:r>
            <a:endParaRPr lang="en-US" sz="1800" dirty="0"/>
          </a:p>
        </p:txBody>
      </p:sp>
      <p:sp>
        <p:nvSpPr>
          <p:cNvPr id="8" name="Text 6"/>
          <p:cNvSpPr/>
          <p:nvPr/>
        </p:nvSpPr>
        <p:spPr>
          <a:xfrm>
            <a:off x="3737610" y="2143761"/>
            <a:ext cx="209165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Equal to current floor: open door.</a:t>
            </a:r>
            <a:endParaRPr lang="en-US" sz="1400" dirty="0"/>
          </a:p>
        </p:txBody>
      </p:sp>
      <p:sp>
        <p:nvSpPr>
          <p:cNvPr id="9" name="Shape 7"/>
          <p:cNvSpPr/>
          <p:nvPr/>
        </p:nvSpPr>
        <p:spPr>
          <a:xfrm>
            <a:off x="6191250" y="1548132"/>
            <a:ext cx="2495550" cy="1325880"/>
          </a:xfrm>
          <a:prstGeom prst="roundRect">
            <a:avLst>
              <a:gd name="adj" fmla="val 7184"/>
            </a:avLst>
          </a:prstGeom>
          <a:solidFill>
            <a:srgbClr val="1C2231"/>
          </a:solidFill>
          <a:ln w="12700">
            <a:solidFill>
              <a:srgbClr val="2A3142"/>
            </a:solidFill>
            <a:prstDash val="solid"/>
          </a:ln>
        </p:spPr>
      </p:sp>
      <p:sp>
        <p:nvSpPr>
          <p:cNvPr id="10" name="Text 8"/>
          <p:cNvSpPr/>
          <p:nvPr/>
        </p:nvSpPr>
        <p:spPr>
          <a:xfrm>
            <a:off x="6423660" y="1780539"/>
            <a:ext cx="209165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3. Weight</a:t>
            </a:r>
            <a:endParaRPr lang="en-US" sz="1800" dirty="0"/>
          </a:p>
        </p:txBody>
      </p:sp>
      <p:sp>
        <p:nvSpPr>
          <p:cNvPr id="11" name="Text 9"/>
          <p:cNvSpPr/>
          <p:nvPr/>
        </p:nvSpPr>
        <p:spPr>
          <a:xfrm>
            <a:off x="6423660" y="2143761"/>
            <a:ext cx="209165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Over 750 kg: alert and wait.</a:t>
            </a:r>
            <a:endParaRPr lang="en-US" sz="1400" dirty="0"/>
          </a:p>
        </p:txBody>
      </p:sp>
      <p:sp>
        <p:nvSpPr>
          <p:cNvPr id="12" name="Shape 10"/>
          <p:cNvSpPr/>
          <p:nvPr/>
        </p:nvSpPr>
        <p:spPr>
          <a:xfrm>
            <a:off x="8877300" y="1548132"/>
            <a:ext cx="2495550" cy="1325880"/>
          </a:xfrm>
          <a:prstGeom prst="roundRect">
            <a:avLst>
              <a:gd name="adj" fmla="val 7184"/>
            </a:avLst>
          </a:prstGeom>
          <a:solidFill>
            <a:srgbClr val="1C2231"/>
          </a:solidFill>
          <a:ln w="12700">
            <a:solidFill>
              <a:srgbClr val="2A3142"/>
            </a:solidFill>
            <a:prstDash val="solid"/>
          </a:ln>
        </p:spPr>
      </p:sp>
      <p:sp>
        <p:nvSpPr>
          <p:cNvPr id="13" name="Text 11"/>
          <p:cNvSpPr/>
          <p:nvPr/>
        </p:nvSpPr>
        <p:spPr>
          <a:xfrm>
            <a:off x="9109710" y="1780539"/>
            <a:ext cx="209165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4. Move</a:t>
            </a:r>
            <a:endParaRPr lang="en-US" sz="1800" dirty="0"/>
          </a:p>
        </p:txBody>
      </p:sp>
      <p:sp>
        <p:nvSpPr>
          <p:cNvPr id="14" name="Text 12"/>
          <p:cNvSpPr/>
          <p:nvPr/>
        </p:nvSpPr>
        <p:spPr>
          <a:xfrm>
            <a:off x="9109710" y="2143761"/>
            <a:ext cx="209165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Higher: go up. Lower: go down.</a:t>
            </a:r>
            <a:endParaRPr lang="en-US" sz="1400" dirty="0"/>
          </a:p>
        </p:txBody>
      </p:sp>
      <p:sp>
        <p:nvSpPr>
          <p:cNvPr id="15" name="Shape 13"/>
          <p:cNvSpPr/>
          <p:nvPr/>
        </p:nvSpPr>
        <p:spPr>
          <a:xfrm>
            <a:off x="819150" y="3140711"/>
            <a:ext cx="5181600" cy="1325880"/>
          </a:xfrm>
          <a:prstGeom prst="roundRect">
            <a:avLst>
              <a:gd name="adj" fmla="val 7184"/>
            </a:avLst>
          </a:prstGeom>
          <a:solidFill>
            <a:srgbClr val="1C2231"/>
          </a:solidFill>
          <a:ln w="12700">
            <a:solidFill>
              <a:srgbClr val="2A3142"/>
            </a:solidFill>
            <a:prstDash val="solid"/>
          </a:ln>
        </p:spPr>
      </p:sp>
      <p:sp>
        <p:nvSpPr>
          <p:cNvPr id="16" name="Text 14"/>
          <p:cNvSpPr/>
          <p:nvPr/>
        </p:nvSpPr>
        <p:spPr>
          <a:xfrm>
            <a:off x="1051560" y="3373121"/>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5. Reopen</a:t>
            </a:r>
            <a:endParaRPr lang="en-US" sz="1800" dirty="0"/>
          </a:p>
        </p:txBody>
      </p:sp>
      <p:sp>
        <p:nvSpPr>
          <p:cNvPr id="17" name="Text 15"/>
          <p:cNvSpPr/>
          <p:nvPr/>
        </p:nvSpPr>
        <p:spPr>
          <a:xfrm>
            <a:off x="1051560" y="3736339"/>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open_door extends the door time; close_door ends it early.</a:t>
            </a:r>
            <a:endParaRPr lang="en-US" sz="1400" dirty="0"/>
          </a:p>
        </p:txBody>
      </p:sp>
      <p:sp>
        <p:nvSpPr>
          <p:cNvPr id="18" name="Shape 16"/>
          <p:cNvSpPr/>
          <p:nvPr/>
        </p:nvSpPr>
        <p:spPr>
          <a:xfrm>
            <a:off x="6191250" y="3140711"/>
            <a:ext cx="5181600" cy="1325880"/>
          </a:xfrm>
          <a:prstGeom prst="roundRect">
            <a:avLst>
              <a:gd name="adj" fmla="val 7184"/>
            </a:avLst>
          </a:prstGeom>
          <a:solidFill>
            <a:srgbClr val="1C2231"/>
          </a:solidFill>
          <a:ln w="12700">
            <a:solidFill>
              <a:srgbClr val="2A3142"/>
            </a:solidFill>
            <a:prstDash val="solid"/>
          </a:ln>
        </p:spPr>
      </p:sp>
      <p:sp>
        <p:nvSpPr>
          <p:cNvPr id="19" name="Text 17"/>
          <p:cNvSpPr/>
          <p:nvPr/>
        </p:nvSpPr>
        <p:spPr>
          <a:xfrm>
            <a:off x="6423660" y="3373121"/>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6. Repeat</a:t>
            </a:r>
            <a:endParaRPr lang="en-US" sz="1800" dirty="0"/>
          </a:p>
        </p:txBody>
      </p:sp>
      <p:sp>
        <p:nvSpPr>
          <p:cNvPr id="20" name="Text 18"/>
          <p:cNvSpPr/>
          <p:nvPr/>
        </p:nvSpPr>
        <p:spPr>
          <a:xfrm>
            <a:off x="6423660" y="3736339"/>
            <a:ext cx="485828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Cleared requests drop out and the cycle restarts.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3899725"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SCAN Algorithm</a:t>
            </a:r>
            <a:endParaRPr lang="en-US" sz="3400" dirty="0"/>
          </a:p>
        </p:txBody>
      </p:sp>
      <p:sp>
        <p:nvSpPr>
          <p:cNvPr id="3" name="Text 1"/>
          <p:cNvSpPr/>
          <p:nvPr/>
        </p:nvSpPr>
        <p:spPr>
          <a:xfrm>
            <a:off x="812800" y="1541782"/>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A5446"/>
                </a:solidFill>
                <a:latin typeface="Space Grotesk" pitchFamily="34" charset="0"/>
                <a:ea typeface="Space Grotesk" pitchFamily="34" charset="-122"/>
                <a:cs typeface="Space Grotesk" pitchFamily="34" charset="-120"/>
              </a:rPr>
              <a:t>The elevator sweeps one way, stopping at every requested floor. At the last request in that direction it reverses. It stops when no request is left.</a:t>
            </a:r>
            <a:endParaRPr lang="en-US" sz="1600" dirty="0"/>
          </a:p>
        </p:txBody>
      </p:sp>
      <p:sp>
        <p:nvSpPr>
          <p:cNvPr id="4" name="Shape 2"/>
          <p:cNvSpPr/>
          <p:nvPr/>
        </p:nvSpPr>
        <p:spPr>
          <a:xfrm>
            <a:off x="819150" y="2371089"/>
            <a:ext cx="51816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2603500"/>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Up sweep</a:t>
            </a:r>
            <a:endParaRPr lang="en-US" sz="1800" dirty="0"/>
          </a:p>
        </p:txBody>
      </p:sp>
      <p:sp>
        <p:nvSpPr>
          <p:cNvPr id="6" name="Text 4"/>
          <p:cNvSpPr/>
          <p:nvPr/>
        </p:nvSpPr>
        <p:spPr>
          <a:xfrm>
            <a:off x="1051560" y="2966721"/>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scan_direction = 1. Scans floors 0 to 3 in upflr_call_arr and flr_req_arr. At floor 3 the direction flips to 0.</a:t>
            </a:r>
            <a:endParaRPr lang="en-US" sz="1400" dirty="0"/>
          </a:p>
        </p:txBody>
      </p:sp>
      <p:sp>
        <p:nvSpPr>
          <p:cNvPr id="7" name="Shape 5"/>
          <p:cNvSpPr/>
          <p:nvPr/>
        </p:nvSpPr>
        <p:spPr>
          <a:xfrm>
            <a:off x="6191250" y="2371089"/>
            <a:ext cx="51816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6423660" y="2603500"/>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Down sweep</a:t>
            </a:r>
            <a:endParaRPr lang="en-US" sz="1800" dirty="0"/>
          </a:p>
        </p:txBody>
      </p:sp>
      <p:sp>
        <p:nvSpPr>
          <p:cNvPr id="9" name="Text 7"/>
          <p:cNvSpPr/>
          <p:nvPr/>
        </p:nvSpPr>
        <p:spPr>
          <a:xfrm>
            <a:off x="6423660" y="2966721"/>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scan_direction = 0. Scans floors 3 to 0 in downflr_call_arr and flr_req_arr. At floor 0 the direction flips to 1.</a:t>
            </a:r>
            <a:endParaRPr lang="en-US" sz="1400" dirty="0"/>
          </a:p>
        </p:txBody>
      </p:sp>
      <p:sp>
        <p:nvSpPr>
          <p:cNvPr id="10" name="Shape 8"/>
          <p:cNvSpPr/>
          <p:nvPr/>
        </p:nvSpPr>
        <p:spPr>
          <a:xfrm>
            <a:off x="819150" y="4212589"/>
            <a:ext cx="10553700" cy="1750060"/>
          </a:xfrm>
          <a:prstGeom prst="roundRect">
            <a:avLst>
              <a:gd name="adj" fmla="val 5443"/>
            </a:avLst>
          </a:prstGeom>
          <a:solidFill>
            <a:srgbClr val="FFFDF8"/>
          </a:solidFill>
          <a:ln w="12700">
            <a:solidFill>
              <a:srgbClr val="DDD5C4"/>
            </a:solidFill>
            <a:prstDash val="solid"/>
          </a:ln>
        </p:spPr>
      </p:sp>
      <p:sp>
        <p:nvSpPr>
          <p:cNvPr id="11" name="Text 9"/>
          <p:cNvSpPr/>
          <p:nvPr/>
        </p:nvSpPr>
        <p:spPr>
          <a:xfrm>
            <a:off x="1051560" y="4445000"/>
            <a:ext cx="1039154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Worked example</a:t>
            </a:r>
            <a:endParaRPr lang="en-US" sz="1800" dirty="0"/>
          </a:p>
        </p:txBody>
      </p:sp>
      <p:sp>
        <p:nvSpPr>
          <p:cNvPr id="12" name="Text 10"/>
          <p:cNvSpPr/>
          <p:nvPr/>
        </p:nvSpPr>
        <p:spPr>
          <a:xfrm>
            <a:off x="1051560" y="4808221"/>
            <a:ext cx="1039154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Elevator at f0, requests for f1 and f3 while another call waits at f2 (up). Up sweep serves f1, f2, f3 in order. If a down call arrives at f1 meanwhile, it waits for the down sweep.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3156680"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3EFE6"/>
                </a:solidFill>
                <a:latin typeface="Space Grotesk" pitchFamily="34" charset="0"/>
                <a:ea typeface="Space Grotesk" pitchFamily="34" charset="-122"/>
                <a:cs typeface="Space Grotesk" pitchFamily="34" charset="-120"/>
              </a:rPr>
              <a:t>Architecture</a:t>
            </a:r>
            <a:endParaRPr lang="en-US" sz="3400" dirty="0"/>
          </a:p>
        </p:txBody>
      </p:sp>
      <p:sp>
        <p:nvSpPr>
          <p:cNvPr id="3" name="Shape 1"/>
          <p:cNvSpPr/>
          <p:nvPr/>
        </p:nvSpPr>
        <p:spPr>
          <a:xfrm>
            <a:off x="819150" y="1548132"/>
            <a:ext cx="4429284" cy="3759200"/>
          </a:xfrm>
          <a:prstGeom prst="roundRect">
            <a:avLst>
              <a:gd name="adj" fmla="val 2534"/>
            </a:avLst>
          </a:prstGeom>
          <a:solidFill>
            <a:srgbClr val="1C2231"/>
          </a:solidFill>
          <a:ln w="12700">
            <a:solidFill>
              <a:srgbClr val="2A3142"/>
            </a:solidFill>
            <a:prstDash val="solid"/>
          </a:ln>
        </p:spPr>
      </p:sp>
      <p:sp>
        <p:nvSpPr>
          <p:cNvPr id="4" name="Text 2"/>
          <p:cNvSpPr/>
          <p:nvPr/>
        </p:nvSpPr>
        <p:spPr>
          <a:xfrm>
            <a:off x="1051560" y="1780539"/>
            <a:ext cx="408339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elevator_cont_Machine</a:t>
            </a:r>
            <a:endParaRPr lang="en-US" sz="1800" dirty="0"/>
          </a:p>
        </p:txBody>
      </p:sp>
      <p:sp>
        <p:nvSpPr>
          <p:cNvPr id="5" name="Text 3"/>
          <p:cNvSpPr/>
          <p:nvPr/>
        </p:nvSpPr>
        <p:spPr>
          <a:xfrm>
            <a:off x="1051560" y="2143761"/>
            <a:ext cx="41905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Top module. Wires the three blocks together.</a:t>
            </a:r>
            <a:endParaRPr lang="en-US" sz="1400" dirty="0"/>
          </a:p>
        </p:txBody>
      </p:sp>
      <p:sp>
        <p:nvSpPr>
          <p:cNvPr id="6" name="Shape 4"/>
          <p:cNvSpPr/>
          <p:nvPr/>
        </p:nvSpPr>
        <p:spPr>
          <a:xfrm>
            <a:off x="5438934" y="1548132"/>
            <a:ext cx="5933916" cy="1159907"/>
          </a:xfrm>
          <a:prstGeom prst="roundRect">
            <a:avLst>
              <a:gd name="adj" fmla="val 8212"/>
            </a:avLst>
          </a:prstGeom>
          <a:solidFill>
            <a:srgbClr val="1C2231"/>
          </a:solidFill>
          <a:ln w="12700">
            <a:solidFill>
              <a:srgbClr val="2A3142"/>
            </a:solidFill>
            <a:prstDash val="solid"/>
          </a:ln>
        </p:spPr>
      </p:sp>
      <p:sp>
        <p:nvSpPr>
          <p:cNvPr id="7" name="Text 5"/>
          <p:cNvSpPr/>
          <p:nvPr/>
        </p:nvSpPr>
        <p:spPr>
          <a:xfrm>
            <a:off x="5671344" y="1780539"/>
            <a:ext cx="5633169" cy="240744"/>
          </a:xfrm>
          <a:prstGeom prst="rect">
            <a:avLst/>
          </a:prstGeom>
          <a:noFill/>
          <a:ln/>
        </p:spPr>
        <p:txBody>
          <a:bodyPr wrap="square" lIns="0" tIns="0" rIns="0" bIns="0" rtlCol="0" anchor="t">
            <a:normAutofit/>
          </a:bodyPr>
          <a:lstStyle/>
          <a:p>
            <a:pPr algn="l" indent="0" marL="0">
              <a:lnSpc>
                <a:spcPts val="1721"/>
              </a:lnSpc>
              <a:buNone/>
            </a:pPr>
            <a:r>
              <a:rPr lang="en-US" sz="1434" b="1" dirty="0">
                <a:solidFill>
                  <a:srgbClr val="F2A33A"/>
                </a:solidFill>
                <a:latin typeface="Space Grotesk" pitchFamily="34" charset="0"/>
                <a:ea typeface="Space Grotesk" pitchFamily="34" charset="-122"/>
                <a:cs typeface="Space Grotesk" pitchFamily="34" charset="-120"/>
              </a:rPr>
              <a:t>elevator</a:t>
            </a:r>
            <a:endParaRPr lang="en-US" sz="1434" dirty="0"/>
          </a:p>
        </p:txBody>
      </p:sp>
      <p:sp>
        <p:nvSpPr>
          <p:cNvPr id="8" name="Text 6"/>
          <p:cNvSpPr/>
          <p:nvPr/>
        </p:nvSpPr>
        <p:spPr>
          <a:xfrm>
            <a:off x="5671344" y="2084784"/>
            <a:ext cx="5695157" cy="416242"/>
          </a:xfrm>
          <a:prstGeom prst="rect">
            <a:avLst/>
          </a:prstGeom>
          <a:noFill/>
          <a:ln/>
        </p:spPr>
        <p:txBody>
          <a:bodyPr wrap="square" lIns="0" tIns="0" rIns="0" bIns="0" rtlCol="0" anchor="t">
            <a:normAutofit/>
          </a:bodyPr>
          <a:lstStyle/>
          <a:p>
            <a:pPr algn="l" indent="0" marL="0">
              <a:lnSpc>
                <a:spcPts val="1733"/>
              </a:lnSpc>
              <a:buNone/>
            </a:pPr>
            <a:r>
              <a:rPr lang="en-US" sz="1238" dirty="0">
                <a:solidFill>
                  <a:srgbClr val="F3EFE6"/>
                </a:solidFill>
                <a:latin typeface="Space Grotesk" pitchFamily="34" charset="0"/>
                <a:ea typeface="Space Grotesk" pitchFamily="34" charset="-122"/>
                <a:cs typeface="Space Grotesk" pitchFamily="34" charset="-120"/>
              </a:rPr>
              <a:t>Outputs current_floor[1:0], direction[1:0], door_state, over_weight_alert</a:t>
            </a:r>
            <a:endParaRPr lang="en-US" sz="1238" dirty="0"/>
          </a:p>
        </p:txBody>
      </p:sp>
      <p:sp>
        <p:nvSpPr>
          <p:cNvPr id="9" name="Shape 7"/>
          <p:cNvSpPr/>
          <p:nvPr/>
        </p:nvSpPr>
        <p:spPr>
          <a:xfrm>
            <a:off x="5438934" y="2847736"/>
            <a:ext cx="5933916" cy="1159986"/>
          </a:xfrm>
          <a:prstGeom prst="roundRect">
            <a:avLst>
              <a:gd name="adj" fmla="val 8211"/>
            </a:avLst>
          </a:prstGeom>
          <a:solidFill>
            <a:srgbClr val="1C2231"/>
          </a:solidFill>
          <a:ln w="12700">
            <a:solidFill>
              <a:srgbClr val="2A3142"/>
            </a:solidFill>
            <a:prstDash val="solid"/>
          </a:ln>
        </p:spPr>
      </p:sp>
      <p:sp>
        <p:nvSpPr>
          <p:cNvPr id="10" name="Text 8"/>
          <p:cNvSpPr/>
          <p:nvPr/>
        </p:nvSpPr>
        <p:spPr>
          <a:xfrm>
            <a:off x="5671344" y="3080147"/>
            <a:ext cx="563316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stepper_motor</a:t>
            </a:r>
            <a:endParaRPr lang="en-US" sz="1800" dirty="0"/>
          </a:p>
        </p:txBody>
      </p:sp>
      <p:sp>
        <p:nvSpPr>
          <p:cNvPr id="11" name="Text 9"/>
          <p:cNvSpPr/>
          <p:nvPr/>
        </p:nvSpPr>
        <p:spPr>
          <a:xfrm>
            <a:off x="5671344" y="3443368"/>
            <a:ext cx="563316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Takes direction[1:0]; drives q[3:0]</a:t>
            </a:r>
            <a:endParaRPr lang="en-US" sz="1400" dirty="0"/>
          </a:p>
        </p:txBody>
      </p:sp>
      <p:sp>
        <p:nvSpPr>
          <p:cNvPr id="12" name="Shape 10"/>
          <p:cNvSpPr/>
          <p:nvPr/>
        </p:nvSpPr>
        <p:spPr>
          <a:xfrm>
            <a:off x="5438934" y="4147424"/>
            <a:ext cx="5933916" cy="1159907"/>
          </a:xfrm>
          <a:prstGeom prst="roundRect">
            <a:avLst>
              <a:gd name="adj" fmla="val 8212"/>
            </a:avLst>
          </a:prstGeom>
          <a:solidFill>
            <a:srgbClr val="1C2231"/>
          </a:solidFill>
          <a:ln w="12700">
            <a:solidFill>
              <a:srgbClr val="2A3142"/>
            </a:solidFill>
            <a:prstDash val="solid"/>
          </a:ln>
        </p:spPr>
      </p:sp>
      <p:sp>
        <p:nvSpPr>
          <p:cNvPr id="13" name="Text 11"/>
          <p:cNvSpPr/>
          <p:nvPr/>
        </p:nvSpPr>
        <p:spPr>
          <a:xfrm>
            <a:off x="5671344" y="4379835"/>
            <a:ext cx="563316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seven_seg_disp</a:t>
            </a:r>
            <a:endParaRPr lang="en-US" sz="1800" dirty="0"/>
          </a:p>
        </p:txBody>
      </p:sp>
      <p:sp>
        <p:nvSpPr>
          <p:cNvPr id="14" name="Text 12"/>
          <p:cNvSpPr/>
          <p:nvPr/>
        </p:nvSpPr>
        <p:spPr>
          <a:xfrm>
            <a:off x="5671344" y="4743053"/>
            <a:ext cx="563316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Takes current_floor[1:0]; drives disp[7:0]</a:t>
            </a:r>
            <a:endParaRPr lang="en-US" sz="1400" dirty="0"/>
          </a:p>
        </p:txBody>
      </p:sp>
      <p:sp>
        <p:nvSpPr>
          <p:cNvPr id="15" name="Text 13"/>
          <p:cNvSpPr/>
          <p:nvPr/>
        </p:nvSpPr>
        <p:spPr>
          <a:xfrm>
            <a:off x="812800" y="556768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3B4"/>
                </a:solidFill>
                <a:latin typeface="Space Grotesk" pitchFamily="34" charset="0"/>
                <a:ea typeface="Space Grotesk" pitchFamily="34" charset="-122"/>
                <a:cs typeface="Space Grotesk" pitchFamily="34" charset="-120"/>
              </a:rPr>
              <a:t>Internal wires: wire_current_floor[1:0] and wire_direction[1:0]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4984719"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Capturing Requests</a:t>
            </a:r>
            <a:endParaRPr lang="en-US" sz="3400" dirty="0"/>
          </a:p>
        </p:txBody>
      </p:sp>
      <p:sp>
        <p:nvSpPr>
          <p:cNvPr id="3" name="Text 1"/>
          <p:cNvSpPr/>
          <p:nvPr/>
        </p:nvSpPr>
        <p:spPr>
          <a:xfrm>
            <a:off x="10392601" y="925832"/>
            <a:ext cx="98660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B36B00"/>
                </a:solidFill>
                <a:latin typeface="Space Grotesk" pitchFamily="34" charset="0"/>
                <a:ea typeface="Space Grotesk" pitchFamily="34" charset="-122"/>
                <a:cs typeface="Space Grotesk" pitchFamily="34" charset="-120"/>
              </a:rPr>
              <a:t>Member 1</a:t>
            </a:r>
            <a:endParaRPr lang="en-US" sz="1400" dirty="0"/>
          </a:p>
        </p:txBody>
      </p:sp>
      <p:sp>
        <p:nvSpPr>
          <p:cNvPr id="4" name="Shape 2"/>
          <p:cNvSpPr/>
          <p:nvPr/>
        </p:nvSpPr>
        <p:spPr>
          <a:xfrm>
            <a:off x="819150" y="1548132"/>
            <a:ext cx="51816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1780539"/>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Storage</a:t>
            </a:r>
            <a:endParaRPr lang="en-US" sz="1800" dirty="0"/>
          </a:p>
        </p:txBody>
      </p:sp>
      <p:sp>
        <p:nvSpPr>
          <p:cNvPr id="6" name="Text 4"/>
          <p:cNvSpPr/>
          <p:nvPr/>
        </p:nvSpPr>
        <p:spPr>
          <a:xfrm>
            <a:off x="1051560" y="2143761"/>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Three 1-bit arrays with 4 slots each: upflr_call_arr, downflr_call_arr, flr_req_arr. Slot index = floor number.</a:t>
            </a:r>
            <a:endParaRPr lang="en-US" sz="1400" dirty="0"/>
          </a:p>
        </p:txBody>
      </p:sp>
      <p:sp>
        <p:nvSpPr>
          <p:cNvPr id="7" name="Shape 5"/>
          <p:cNvSpPr/>
          <p:nvPr/>
        </p:nvSpPr>
        <p:spPr>
          <a:xfrm>
            <a:off x="6191250" y="1548132"/>
            <a:ext cx="51816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6423660" y="1780539"/>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Trigger</a:t>
            </a:r>
            <a:endParaRPr lang="en-US" sz="1800" dirty="0"/>
          </a:p>
        </p:txBody>
      </p:sp>
      <p:sp>
        <p:nvSpPr>
          <p:cNvPr id="9" name="Text 7"/>
          <p:cNvSpPr/>
          <p:nvPr/>
        </p:nvSpPr>
        <p:spPr>
          <a:xfrm>
            <a:off x="6423660" y="2143761"/>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One always block per input group, triggered on posedge of each button bit. If the bit is 1 and its slot is 0, the slot is set to 1.</a:t>
            </a:r>
            <a:endParaRPr lang="en-US" sz="1400" dirty="0"/>
          </a:p>
        </p:txBody>
      </p:sp>
      <p:sp>
        <p:nvSpPr>
          <p:cNvPr id="10" name="Shape 8"/>
          <p:cNvSpPr/>
          <p:nvPr/>
        </p:nvSpPr>
        <p:spPr>
          <a:xfrm>
            <a:off x="819150" y="3389632"/>
            <a:ext cx="5181600" cy="1574800"/>
          </a:xfrm>
          <a:prstGeom prst="roundRect">
            <a:avLst>
              <a:gd name="adj" fmla="val 6048"/>
            </a:avLst>
          </a:prstGeom>
          <a:solidFill>
            <a:srgbClr val="FFFDF8"/>
          </a:solidFill>
          <a:ln w="12700">
            <a:solidFill>
              <a:srgbClr val="DDD5C4"/>
            </a:solidFill>
            <a:prstDash val="solid"/>
          </a:ln>
        </p:spPr>
      </p:sp>
      <p:sp>
        <p:nvSpPr>
          <p:cNvPr id="11" name="Text 9"/>
          <p:cNvSpPr/>
          <p:nvPr/>
        </p:nvSpPr>
        <p:spPr>
          <a:xfrm>
            <a:off x="1051560" y="3622039"/>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Counting</a:t>
            </a:r>
            <a:endParaRPr lang="en-US" sz="1800" dirty="0"/>
          </a:p>
        </p:txBody>
      </p:sp>
      <p:sp>
        <p:nvSpPr>
          <p:cNvPr id="12" name="Text 10"/>
          <p:cNvSpPr/>
          <p:nvPr/>
        </p:nvSpPr>
        <p:spPr>
          <a:xfrm>
            <a:off x="1051560" y="3985261"/>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req_count [3:0] adds 1 per new request. A repeat press is ignored because the slot is already 1.</a:t>
            </a:r>
            <a:endParaRPr lang="en-US" sz="1400" dirty="0"/>
          </a:p>
        </p:txBody>
      </p:sp>
      <p:sp>
        <p:nvSpPr>
          <p:cNvPr id="13" name="Shape 11"/>
          <p:cNvSpPr/>
          <p:nvPr/>
        </p:nvSpPr>
        <p:spPr>
          <a:xfrm>
            <a:off x="6191250" y="3389632"/>
            <a:ext cx="5181600" cy="1574800"/>
          </a:xfrm>
          <a:prstGeom prst="roundRect">
            <a:avLst>
              <a:gd name="adj" fmla="val 6048"/>
            </a:avLst>
          </a:prstGeom>
          <a:solidFill>
            <a:srgbClr val="FFFDF8"/>
          </a:solidFill>
          <a:ln w="12700">
            <a:solidFill>
              <a:srgbClr val="DDD5C4"/>
            </a:solidFill>
            <a:prstDash val="solid"/>
          </a:ln>
        </p:spPr>
      </p:sp>
      <p:sp>
        <p:nvSpPr>
          <p:cNvPr id="14" name="Text 12"/>
          <p:cNvSpPr/>
          <p:nvPr/>
        </p:nvSpPr>
        <p:spPr>
          <a:xfrm>
            <a:off x="6423660" y="3622039"/>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Start flag</a:t>
            </a:r>
            <a:endParaRPr lang="en-US" sz="1800" dirty="0"/>
          </a:p>
        </p:txBody>
      </p:sp>
      <p:sp>
        <p:nvSpPr>
          <p:cNvPr id="15" name="Text 13"/>
          <p:cNvSpPr/>
          <p:nvPr/>
        </p:nvSpPr>
        <p:spPr>
          <a:xfrm>
            <a:off x="6423660" y="3985261"/>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st goes 1 when req_count changes from 0 to 1. This wakes the SCAN block. st returns to 0 when req_count is 0.</a:t>
            </a:r>
            <a:endParaRPr lang="en-US" sz="1400" dirty="0"/>
          </a:p>
        </p:txBody>
      </p:sp>
      <p:sp>
        <p:nvSpPr>
          <p:cNvPr id="16" name="Text 14"/>
          <p:cNvSpPr/>
          <p:nvPr/>
        </p:nvSpPr>
        <p:spPr>
          <a:xfrm>
            <a:off x="812800" y="52247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446"/>
                </a:solidFill>
                <a:latin typeface="Space Grotesk" pitchFamily="34" charset="0"/>
                <a:ea typeface="Space Grotesk" pitchFamily="34" charset="-122"/>
                <a:cs typeface="Space Grotesk" pitchFamily="34" charset="-120"/>
              </a:rPr>
              <a:t>Mapping: move_up_call[i] to upflr_call_arr[i], move_down_call[i] to downflr_call_arr[i], req_floor[i] to flr_req_arr[i].</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2845784"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3EFE6"/>
                </a:solidFill>
                <a:latin typeface="Space Grotesk" pitchFamily="34" charset="0"/>
                <a:ea typeface="Space Grotesk" pitchFamily="34" charset="-122"/>
                <a:cs typeface="Space Grotesk" pitchFamily="34" charset="-120"/>
              </a:rPr>
              <a:t>SCAN Block</a:t>
            </a:r>
            <a:endParaRPr lang="en-US" sz="3400" dirty="0"/>
          </a:p>
        </p:txBody>
      </p:sp>
      <p:sp>
        <p:nvSpPr>
          <p:cNvPr id="3" name="Text 1"/>
          <p:cNvSpPr/>
          <p:nvPr/>
        </p:nvSpPr>
        <p:spPr>
          <a:xfrm>
            <a:off x="10392601" y="925829"/>
            <a:ext cx="98660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2A33A"/>
                </a:solidFill>
                <a:latin typeface="Space Grotesk" pitchFamily="34" charset="0"/>
                <a:ea typeface="Space Grotesk" pitchFamily="34" charset="-122"/>
                <a:cs typeface="Space Grotesk" pitchFamily="34" charset="-120"/>
              </a:rPr>
              <a:t>Member 1</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1939"/>
          <a:ext cx="10556240" cy="3068320"/>
        </p:xfrm>
        <a:graphic>
          <a:graphicData uri="http://schemas.openxmlformats.org/drawingml/2006/table">
            <a:tbl>
              <a:tblPr/>
              <a:tblGrid>
                <a:gridCol w="5278120"/>
                <a:gridCol w="5278120"/>
              </a:tblGrid>
              <a:tr h="383540">
                <a:tc>
                  <a:txBody>
                    <a:bodyPr/>
                    <a:lstStyle/>
                    <a:p>
                      <a:pPr indent="0" marL="0">
                        <a:lnSpc>
                          <a:spcPts val="1960"/>
                        </a:lnSpc>
                        <a:buNone/>
                      </a:pPr>
                      <a:r>
                        <a:rPr lang="en-US" sz="1400" b="1" dirty="0">
                          <a:solidFill>
                            <a:srgbClr val="F3EFE6"/>
                          </a:solidFill>
                          <a:latin typeface="Space Grotesk" pitchFamily="34" charset="0"/>
                          <a:ea typeface="Space Grotesk" pitchFamily="34" charset="-122"/>
                          <a:cs typeface="Space Grotesk" pitchFamily="34" charset="-120"/>
                        </a:rPr>
                        <a:t>Register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30"/>
                    </a:solidFill>
                  </a:tcPr>
                </a:tc>
                <a:tc>
                  <a:txBody>
                    <a:bodyPr/>
                    <a:lstStyle/>
                    <a:p>
                      <a:pPr indent="0" marL="0">
                        <a:lnSpc>
                          <a:spcPts val="1960"/>
                        </a:lnSpc>
                        <a:buNone/>
                      </a:pPr>
                      <a:r>
                        <a:rPr lang="en-US" sz="1400" b="1" dirty="0">
                          <a:solidFill>
                            <a:srgbClr val="F3EFE6"/>
                          </a:solidFill>
                          <a:latin typeface="Space Grotesk" pitchFamily="34" charset="0"/>
                          <a:ea typeface="Space Grotesk" pitchFamily="34" charset="-122"/>
                          <a:cs typeface="Space Grotesk" pitchFamily="34" charset="-120"/>
                        </a:rPr>
                        <a:t>Role</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54565B"/>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30"/>
                    </a:solidFill>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scan_direction</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 = sweeping up, 0 = sweeping down</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next_floor [1:0]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Target floor chosen by the loop</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x</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Set to 1 to break out of the for loop</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goto</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Pulses to wake the movement block</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complete</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Pulses when a floor is served, to rescan</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d_c</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Start the next sweep from the end floor after a reversal</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rpt, rpt1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Clock-synchronised retry while requests remain</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bl>
          </a:graphicData>
        </a:graphic>
      </p:graphicFrame>
      <p:sp>
        <p:nvSpPr>
          <p:cNvPr id="5" name="Text 2"/>
          <p:cNvSpPr/>
          <p:nvPr/>
        </p:nvSpPr>
        <p:spPr>
          <a:xfrm>
            <a:off x="812800" y="4874264"/>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3B4"/>
                </a:solidFill>
                <a:latin typeface="Space Grotesk" pitchFamily="34" charset="0"/>
                <a:ea typeface="Space Grotesk" pitchFamily="34" charset="-122"/>
                <a:cs typeface="Space Grotesk" pitchFamily="34" charset="-120"/>
              </a:rPr>
              <a:t>Loop: start at current_floor (or at the end floor if d_c = 1), find the first slot that is 1, store its index in next_floor, set goto = 1.</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653091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Movement and Door Logic</a:t>
            </a:r>
            <a:endParaRPr lang="en-US" sz="3400" dirty="0"/>
          </a:p>
        </p:txBody>
      </p:sp>
      <p:sp>
        <p:nvSpPr>
          <p:cNvPr id="3" name="Text 1"/>
          <p:cNvSpPr/>
          <p:nvPr/>
        </p:nvSpPr>
        <p:spPr>
          <a:xfrm>
            <a:off x="10360121" y="925829"/>
            <a:ext cx="101908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B36B00"/>
                </a:solidFill>
                <a:latin typeface="Space Grotesk" pitchFamily="34" charset="0"/>
                <a:ea typeface="Space Grotesk" pitchFamily="34" charset="-122"/>
                <a:cs typeface="Space Grotesk" pitchFamily="34" charset="-120"/>
              </a:rPr>
              <a:t>Member 2</a:t>
            </a:r>
            <a:endParaRPr lang="en-US" sz="1400" dirty="0"/>
          </a:p>
        </p:txBody>
      </p:sp>
      <p:sp>
        <p:nvSpPr>
          <p:cNvPr id="4" name="Shape 2"/>
          <p:cNvSpPr/>
          <p:nvPr/>
        </p:nvSpPr>
        <p:spPr>
          <a:xfrm>
            <a:off x="819150" y="1548129"/>
            <a:ext cx="51816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17805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Compare</a:t>
            </a:r>
            <a:endParaRPr lang="en-US" sz="1800" dirty="0"/>
          </a:p>
        </p:txBody>
      </p:sp>
      <p:sp>
        <p:nvSpPr>
          <p:cNvPr id="6" name="Text 4"/>
          <p:cNvSpPr/>
          <p:nvPr/>
        </p:nvSpPr>
        <p:spPr>
          <a:xfrm>
            <a:off x="1051560" y="2143764"/>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next_floor equals current_floor: serve. Greater: direction = move_up (01). Less: direction = move_down (10).</a:t>
            </a:r>
            <a:endParaRPr lang="en-US" sz="1400" dirty="0"/>
          </a:p>
        </p:txBody>
      </p:sp>
      <p:sp>
        <p:nvSpPr>
          <p:cNvPr id="7" name="Shape 5"/>
          <p:cNvSpPr/>
          <p:nvPr/>
        </p:nvSpPr>
        <p:spPr>
          <a:xfrm>
            <a:off x="6191250" y="1548129"/>
            <a:ext cx="51816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6423660" y="17805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Travel time</a:t>
            </a:r>
            <a:endParaRPr lang="en-US" sz="1800" dirty="0"/>
          </a:p>
        </p:txBody>
      </p:sp>
      <p:sp>
        <p:nvSpPr>
          <p:cNvPr id="9" name="Text 7"/>
          <p:cNvSpPr/>
          <p:nvPr/>
        </p:nvSpPr>
        <p:spPr>
          <a:xfrm>
            <a:off x="6423660" y="2143764"/>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#300 delay, about 3 s, then current_floor is changed by 1.</a:t>
            </a:r>
            <a:endParaRPr lang="en-US" sz="1400" dirty="0"/>
          </a:p>
        </p:txBody>
      </p:sp>
      <p:sp>
        <p:nvSpPr>
          <p:cNvPr id="10" name="Shape 8"/>
          <p:cNvSpPr/>
          <p:nvPr/>
        </p:nvSpPr>
        <p:spPr>
          <a:xfrm>
            <a:off x="819150" y="3389629"/>
            <a:ext cx="5181600" cy="1574800"/>
          </a:xfrm>
          <a:prstGeom prst="roundRect">
            <a:avLst>
              <a:gd name="adj" fmla="val 6048"/>
            </a:avLst>
          </a:prstGeom>
          <a:solidFill>
            <a:srgbClr val="FFFDF8"/>
          </a:solidFill>
          <a:ln w="12700">
            <a:solidFill>
              <a:srgbClr val="DDD5C4"/>
            </a:solidFill>
            <a:prstDash val="solid"/>
          </a:ln>
        </p:spPr>
      </p:sp>
      <p:sp>
        <p:nvSpPr>
          <p:cNvPr id="11" name="Text 9"/>
          <p:cNvSpPr/>
          <p:nvPr/>
        </p:nvSpPr>
        <p:spPr>
          <a:xfrm>
            <a:off x="1051560" y="36220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Door</a:t>
            </a:r>
            <a:endParaRPr lang="en-US" sz="1800" dirty="0"/>
          </a:p>
        </p:txBody>
      </p:sp>
      <p:sp>
        <p:nvSpPr>
          <p:cNvPr id="12" name="Text 10"/>
          <p:cNvSpPr/>
          <p:nvPr/>
        </p:nvSpPr>
        <p:spPr>
          <a:xfrm>
            <a:off x="1051560" y="3985264"/>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door_state 1 = open, 0 = closed. Normal dwell is 20 x #15, about 3 s.</a:t>
            </a:r>
            <a:endParaRPr lang="en-US" sz="1400" dirty="0"/>
          </a:p>
        </p:txBody>
      </p:sp>
      <p:sp>
        <p:nvSpPr>
          <p:cNvPr id="13" name="Shape 11"/>
          <p:cNvSpPr/>
          <p:nvPr/>
        </p:nvSpPr>
        <p:spPr>
          <a:xfrm>
            <a:off x="6191250" y="3389629"/>
            <a:ext cx="5181600" cy="1574800"/>
          </a:xfrm>
          <a:prstGeom prst="roundRect">
            <a:avLst>
              <a:gd name="adj" fmla="val 6048"/>
            </a:avLst>
          </a:prstGeom>
          <a:solidFill>
            <a:srgbClr val="FFFDF8"/>
          </a:solidFill>
          <a:ln w="12700">
            <a:solidFill>
              <a:srgbClr val="DDD5C4"/>
            </a:solidFill>
            <a:prstDash val="solid"/>
          </a:ln>
        </p:spPr>
      </p:sp>
      <p:sp>
        <p:nvSpPr>
          <p:cNvPr id="14" name="Text 12"/>
          <p:cNvSpPr/>
          <p:nvPr/>
        </p:nvSpPr>
        <p:spPr>
          <a:xfrm>
            <a:off x="6423660" y="36220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Buttons</a:t>
            </a:r>
            <a:endParaRPr lang="en-US" sz="1800" dirty="0"/>
          </a:p>
        </p:txBody>
      </p:sp>
      <p:sp>
        <p:nvSpPr>
          <p:cNvPr id="15" name="Text 13"/>
          <p:cNvSpPr/>
          <p:nvPr/>
        </p:nvSpPr>
        <p:spPr>
          <a:xfrm>
            <a:off x="6423660" y="3985264"/>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open_door is latched in wire_open_door for 20 x #20 extra, about 4 s. close_door is latched in wire_close_door and ends the wait early.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8445341"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3EFE6"/>
                </a:solidFill>
                <a:latin typeface="Space Grotesk" pitchFamily="34" charset="0"/>
                <a:ea typeface="Space Grotesk" pitchFamily="34" charset="-122"/>
                <a:cs typeface="Space Grotesk" pitchFamily="34" charset="-120"/>
              </a:rPr>
              <a:t>Clearing Requests and Overweight</a:t>
            </a:r>
            <a:endParaRPr lang="en-US" sz="3400" dirty="0"/>
          </a:p>
        </p:txBody>
      </p:sp>
      <p:sp>
        <p:nvSpPr>
          <p:cNvPr id="3" name="Text 1"/>
          <p:cNvSpPr/>
          <p:nvPr/>
        </p:nvSpPr>
        <p:spPr>
          <a:xfrm>
            <a:off x="10360121" y="925829"/>
            <a:ext cx="101908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2A33A"/>
                </a:solidFill>
                <a:latin typeface="Space Grotesk" pitchFamily="34" charset="0"/>
                <a:ea typeface="Space Grotesk" pitchFamily="34" charset="-122"/>
                <a:cs typeface="Space Grotesk" pitchFamily="34" charset="-120"/>
              </a:rPr>
              <a:t>Member 2</a:t>
            </a:r>
            <a:endParaRPr lang="en-US" sz="1400" dirty="0"/>
          </a:p>
        </p:txBody>
      </p:sp>
      <p:sp>
        <p:nvSpPr>
          <p:cNvPr id="4" name="Shape 2"/>
          <p:cNvSpPr/>
          <p:nvPr/>
        </p:nvSpPr>
        <p:spPr>
          <a:xfrm>
            <a:off x="819150" y="1548129"/>
            <a:ext cx="5181600" cy="1574800"/>
          </a:xfrm>
          <a:prstGeom prst="roundRect">
            <a:avLst>
              <a:gd name="adj" fmla="val 6048"/>
            </a:avLst>
          </a:prstGeom>
          <a:solidFill>
            <a:srgbClr val="1C2231"/>
          </a:solidFill>
          <a:ln w="12700">
            <a:solidFill>
              <a:srgbClr val="2A3142"/>
            </a:solidFill>
            <a:prstDash val="solid"/>
          </a:ln>
        </p:spPr>
      </p:sp>
      <p:sp>
        <p:nvSpPr>
          <p:cNvPr id="5" name="Text 3"/>
          <p:cNvSpPr/>
          <p:nvPr/>
        </p:nvSpPr>
        <p:spPr>
          <a:xfrm>
            <a:off x="1051560" y="17805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Clearing</a:t>
            </a:r>
            <a:endParaRPr lang="en-US" sz="1800" dirty="0"/>
          </a:p>
        </p:txBody>
      </p:sp>
      <p:sp>
        <p:nvSpPr>
          <p:cNvPr id="6" name="Text 4"/>
          <p:cNvSpPr/>
          <p:nvPr/>
        </p:nvSpPr>
        <p:spPr>
          <a:xfrm>
            <a:off x="1051560" y="2143764"/>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At the served floor cf, the matching array slots are set to 0 and req_count drops by 2 if both slots were set, else by 1. Then complete = 1 restarts SCAN.</a:t>
            </a:r>
            <a:endParaRPr lang="en-US" sz="1400" dirty="0"/>
          </a:p>
        </p:txBody>
      </p:sp>
      <p:sp>
        <p:nvSpPr>
          <p:cNvPr id="7" name="Shape 5"/>
          <p:cNvSpPr/>
          <p:nvPr/>
        </p:nvSpPr>
        <p:spPr>
          <a:xfrm>
            <a:off x="6191250" y="1548129"/>
            <a:ext cx="5181600" cy="1574800"/>
          </a:xfrm>
          <a:prstGeom prst="roundRect">
            <a:avLst>
              <a:gd name="adj" fmla="val 6048"/>
            </a:avLst>
          </a:prstGeom>
          <a:solidFill>
            <a:srgbClr val="1C2231"/>
          </a:solidFill>
          <a:ln w="12700">
            <a:solidFill>
              <a:srgbClr val="2A3142"/>
            </a:solidFill>
            <a:prstDash val="solid"/>
          </a:ln>
        </p:spPr>
      </p:sp>
      <p:sp>
        <p:nvSpPr>
          <p:cNvPr id="8" name="Text 6"/>
          <p:cNvSpPr/>
          <p:nvPr/>
        </p:nvSpPr>
        <p:spPr>
          <a:xfrm>
            <a:off x="6423660" y="17805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Overweight</a:t>
            </a:r>
            <a:endParaRPr lang="en-US" sz="1800" dirty="0"/>
          </a:p>
        </p:txBody>
      </p:sp>
      <p:sp>
        <p:nvSpPr>
          <p:cNvPr id="9" name="Text 7"/>
          <p:cNvSpPr/>
          <p:nvPr/>
        </p:nvSpPr>
        <p:spPr>
          <a:xfrm>
            <a:off x="6423660" y="2143764"/>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If over_weight = 1: direction = stop, door_state = open, over_weight_alert = 1. Normal operation resumes when it returns to 0.</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6845998"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Timing and Direction Codes</a:t>
            </a:r>
            <a:endParaRPr lang="en-US" sz="3400" dirty="0"/>
          </a:p>
        </p:txBody>
      </p:sp>
      <p:sp>
        <p:nvSpPr>
          <p:cNvPr id="3" name="Text 1"/>
          <p:cNvSpPr/>
          <p:nvPr/>
        </p:nvSpPr>
        <p:spPr>
          <a:xfrm>
            <a:off x="10360121" y="925829"/>
            <a:ext cx="101908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B36B00"/>
                </a:solidFill>
                <a:latin typeface="Space Grotesk" pitchFamily="34" charset="0"/>
                <a:ea typeface="Space Grotesk" pitchFamily="34" charset="-122"/>
                <a:cs typeface="Space Grotesk" pitchFamily="34" charset="-120"/>
              </a:rPr>
              <a:t>Member 2</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1939"/>
          <a:ext cx="10556240" cy="1917700"/>
        </p:xfrm>
        <a:graphic>
          <a:graphicData uri="http://schemas.openxmlformats.org/drawingml/2006/table">
            <a:tbl>
              <a:tblPr/>
              <a:tblGrid>
                <a:gridCol w="3518747"/>
                <a:gridCol w="3518747"/>
                <a:gridCol w="3518747"/>
              </a:tblGrid>
              <a:tr h="383540">
                <a:tc>
                  <a:txBody>
                    <a:bodyPr/>
                    <a:lstStyle/>
                    <a:p>
                      <a:pPr indent="0" marL="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Event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Code</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Time</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r>
              <a:tr h="383540">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Move one floor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#300 delay then current_floor ± 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about 3 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Normal door dwell</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20 x #15 loop, door_state = 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about 3 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Extra time (open_door)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20 x #20 loop</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about 4 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Close early</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wire_close_door = 1 ends the loop</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immediate</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Text 2"/>
          <p:cNvSpPr/>
          <p:nvPr/>
        </p:nvSpPr>
        <p:spPr>
          <a:xfrm>
            <a:off x="812800" y="37236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446"/>
                </a:solidFill>
                <a:latin typeface="Space Grotesk" pitchFamily="34" charset="0"/>
                <a:ea typeface="Space Grotesk" pitchFamily="34" charset="-122"/>
                <a:cs typeface="Space Grotesk" pitchFamily="34" charset="-120"/>
              </a:rPr>
              <a:t>timescale is 10 ms per unit. direction codes: 01 up, 10 down, 11 stop.</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5252657"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Stepper Motor Driver</a:t>
            </a:r>
            <a:endParaRPr lang="en-US" sz="3400" dirty="0"/>
          </a:p>
        </p:txBody>
      </p:sp>
      <p:sp>
        <p:nvSpPr>
          <p:cNvPr id="3" name="Text 1"/>
          <p:cNvSpPr/>
          <p:nvPr/>
        </p:nvSpPr>
        <p:spPr>
          <a:xfrm>
            <a:off x="10357834" y="925829"/>
            <a:ext cx="1021366"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B36B00"/>
                </a:solidFill>
                <a:latin typeface="Space Grotesk" pitchFamily="34" charset="0"/>
                <a:ea typeface="Space Grotesk" pitchFamily="34" charset="-122"/>
                <a:cs typeface="Space Grotesk" pitchFamily="34" charset="-120"/>
              </a:rPr>
              <a:t>Member 3</a:t>
            </a:r>
            <a:endParaRPr lang="en-US" sz="1400" dirty="0"/>
          </a:p>
        </p:txBody>
      </p:sp>
      <p:sp>
        <p:nvSpPr>
          <p:cNvPr id="4" name="Text 2"/>
          <p:cNvSpPr/>
          <p:nvPr/>
        </p:nvSpPr>
        <p:spPr>
          <a:xfrm>
            <a:off x="812800" y="1541779"/>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61F"/>
                </a:solidFill>
                <a:latin typeface="Space Grotesk" pitchFamily="34" charset="0"/>
                <a:ea typeface="Space Grotesk" pitchFamily="34" charset="-122"/>
                <a:cs typeface="Space Grotesk" pitchFamily="34" charset="-120"/>
              </a:rPr>
              <a:t>A stepper motor turns in small steps. Energising its 4 coils in a repeating pattern rotates the shaft; reversing the pattern reverses the rotation.</a:t>
            </a:r>
            <a:endParaRPr lang="en-US" sz="1500" dirty="0"/>
          </a:p>
        </p:txBody>
      </p:sp>
      <p:sp>
        <p:nvSpPr>
          <p:cNvPr id="5" name="Shape 3"/>
          <p:cNvSpPr/>
          <p:nvPr/>
        </p:nvSpPr>
        <p:spPr>
          <a:xfrm>
            <a:off x="819150" y="2335529"/>
            <a:ext cx="3390900" cy="1574800"/>
          </a:xfrm>
          <a:prstGeom prst="roundRect">
            <a:avLst>
              <a:gd name="adj" fmla="val 6048"/>
            </a:avLst>
          </a:prstGeom>
          <a:solidFill>
            <a:srgbClr val="FFFDF8"/>
          </a:solidFill>
          <a:ln w="12700">
            <a:solidFill>
              <a:srgbClr val="DDD5C4"/>
            </a:solidFill>
            <a:prstDash val="solid"/>
          </a:ln>
        </p:spPr>
      </p:sp>
      <p:sp>
        <p:nvSpPr>
          <p:cNvPr id="6" name="Text 4"/>
          <p:cNvSpPr/>
          <p:nvPr/>
        </p:nvSpPr>
        <p:spPr>
          <a:xfrm>
            <a:off x="1051560" y="2567942"/>
            <a:ext cx="301386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Input</a:t>
            </a:r>
            <a:endParaRPr lang="en-US" sz="1800" dirty="0"/>
          </a:p>
        </p:txBody>
      </p:sp>
      <p:sp>
        <p:nvSpPr>
          <p:cNvPr id="7" name="Text 5"/>
          <p:cNvSpPr/>
          <p:nvPr/>
        </p:nvSpPr>
        <p:spPr>
          <a:xfrm>
            <a:off x="1051560" y="2931164"/>
            <a:ext cx="301386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direction [1:0] from the elevator: 01 = up, 10 = down, 11 = stop.</a:t>
            </a:r>
            <a:endParaRPr lang="en-US" sz="1400" dirty="0"/>
          </a:p>
        </p:txBody>
      </p:sp>
      <p:sp>
        <p:nvSpPr>
          <p:cNvPr id="8" name="Shape 6"/>
          <p:cNvSpPr/>
          <p:nvPr/>
        </p:nvSpPr>
        <p:spPr>
          <a:xfrm>
            <a:off x="4400550" y="2335529"/>
            <a:ext cx="3390900" cy="1574800"/>
          </a:xfrm>
          <a:prstGeom prst="roundRect">
            <a:avLst>
              <a:gd name="adj" fmla="val 6048"/>
            </a:avLst>
          </a:prstGeom>
          <a:solidFill>
            <a:srgbClr val="FFFDF8"/>
          </a:solidFill>
          <a:ln w="12700">
            <a:solidFill>
              <a:srgbClr val="DDD5C4"/>
            </a:solidFill>
            <a:prstDash val="solid"/>
          </a:ln>
        </p:spPr>
      </p:sp>
      <p:sp>
        <p:nvSpPr>
          <p:cNvPr id="9" name="Text 7"/>
          <p:cNvSpPr/>
          <p:nvPr/>
        </p:nvSpPr>
        <p:spPr>
          <a:xfrm>
            <a:off x="4632960" y="2567942"/>
            <a:ext cx="301386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Output</a:t>
            </a:r>
            <a:endParaRPr lang="en-US" sz="1800" dirty="0"/>
          </a:p>
        </p:txBody>
      </p:sp>
      <p:sp>
        <p:nvSpPr>
          <p:cNvPr id="10" name="Text 8"/>
          <p:cNvSpPr/>
          <p:nvPr/>
        </p:nvSpPr>
        <p:spPr>
          <a:xfrm>
            <a:off x="4632960" y="2931164"/>
            <a:ext cx="301386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q [3:0], one bit per coil. Initial value q = 4h3.</a:t>
            </a:r>
            <a:endParaRPr lang="en-US" sz="1400" dirty="0"/>
          </a:p>
        </p:txBody>
      </p:sp>
      <p:sp>
        <p:nvSpPr>
          <p:cNvPr id="11" name="Shape 9"/>
          <p:cNvSpPr/>
          <p:nvPr/>
        </p:nvSpPr>
        <p:spPr>
          <a:xfrm>
            <a:off x="7981950" y="2335529"/>
            <a:ext cx="3390900" cy="1574800"/>
          </a:xfrm>
          <a:prstGeom prst="roundRect">
            <a:avLst>
              <a:gd name="adj" fmla="val 6048"/>
            </a:avLst>
          </a:prstGeom>
          <a:solidFill>
            <a:srgbClr val="FFFDF8"/>
          </a:solidFill>
          <a:ln w="12700">
            <a:solidFill>
              <a:srgbClr val="DDD5C4"/>
            </a:solidFill>
            <a:prstDash val="solid"/>
          </a:ln>
        </p:spPr>
      </p:sp>
      <p:sp>
        <p:nvSpPr>
          <p:cNvPr id="12" name="Text 10"/>
          <p:cNvSpPr/>
          <p:nvPr/>
        </p:nvSpPr>
        <p:spPr>
          <a:xfrm>
            <a:off x="8214360" y="2567942"/>
            <a:ext cx="301386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Step counter</a:t>
            </a:r>
            <a:endParaRPr lang="en-US" sz="1800" dirty="0"/>
          </a:p>
        </p:txBody>
      </p:sp>
      <p:sp>
        <p:nvSpPr>
          <p:cNvPr id="13" name="Text 11"/>
          <p:cNvSpPr/>
          <p:nvPr/>
        </p:nvSpPr>
        <p:spPr>
          <a:xfrm>
            <a:off x="8214360" y="2931164"/>
            <a:ext cx="301386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state [1:0] counts 0 to 3 and wraps, adding 1 on every rising clock edge while moving.</a:t>
            </a:r>
            <a:endParaRPr lang="en-US" sz="1400" dirty="0"/>
          </a:p>
        </p:txBody>
      </p:sp>
      <p:sp>
        <p:nvSpPr>
          <p:cNvPr id="14" name="Shape 12"/>
          <p:cNvSpPr/>
          <p:nvPr/>
        </p:nvSpPr>
        <p:spPr>
          <a:xfrm>
            <a:off x="819150" y="4177029"/>
            <a:ext cx="5181600" cy="1325880"/>
          </a:xfrm>
          <a:prstGeom prst="roundRect">
            <a:avLst>
              <a:gd name="adj" fmla="val 7184"/>
            </a:avLst>
          </a:prstGeom>
          <a:solidFill>
            <a:srgbClr val="FFFDF8"/>
          </a:solidFill>
          <a:ln w="12700">
            <a:solidFill>
              <a:srgbClr val="DDD5C4"/>
            </a:solidFill>
            <a:prstDash val="solid"/>
          </a:ln>
        </p:spPr>
      </p:sp>
      <p:sp>
        <p:nvSpPr>
          <p:cNvPr id="15" name="Text 13"/>
          <p:cNvSpPr/>
          <p:nvPr/>
        </p:nvSpPr>
        <p:spPr>
          <a:xfrm>
            <a:off x="1051560" y="44094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While moving</a:t>
            </a:r>
            <a:endParaRPr lang="en-US" sz="1800" dirty="0"/>
          </a:p>
        </p:txBody>
      </p:sp>
      <p:sp>
        <p:nvSpPr>
          <p:cNvPr id="16" name="Text 14"/>
          <p:cNvSpPr/>
          <p:nvPr/>
        </p:nvSpPr>
        <p:spPr>
          <a:xfrm>
            <a:off x="1051560" y="4772664"/>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A case on state picks the next q. The same state gives a different pattern for up and for down.</a:t>
            </a:r>
            <a:endParaRPr lang="en-US" sz="1400" dirty="0"/>
          </a:p>
        </p:txBody>
      </p:sp>
      <p:sp>
        <p:nvSpPr>
          <p:cNvPr id="17" name="Shape 15"/>
          <p:cNvSpPr/>
          <p:nvPr/>
        </p:nvSpPr>
        <p:spPr>
          <a:xfrm>
            <a:off x="6191250" y="4177029"/>
            <a:ext cx="5181600" cy="1325880"/>
          </a:xfrm>
          <a:prstGeom prst="roundRect">
            <a:avLst>
              <a:gd name="adj" fmla="val 7184"/>
            </a:avLst>
          </a:prstGeom>
          <a:solidFill>
            <a:srgbClr val="FFFDF8"/>
          </a:solidFill>
          <a:ln w="12700">
            <a:solidFill>
              <a:srgbClr val="DDD5C4"/>
            </a:solidFill>
            <a:prstDash val="solid"/>
          </a:ln>
        </p:spPr>
      </p:sp>
      <p:sp>
        <p:nvSpPr>
          <p:cNvPr id="18" name="Text 16"/>
          <p:cNvSpPr/>
          <p:nvPr/>
        </p:nvSpPr>
        <p:spPr>
          <a:xfrm>
            <a:off x="6423660" y="44094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While stopped</a:t>
            </a:r>
            <a:endParaRPr lang="en-US" sz="1800" dirty="0"/>
          </a:p>
        </p:txBody>
      </p:sp>
      <p:sp>
        <p:nvSpPr>
          <p:cNvPr id="19" name="Text 17"/>
          <p:cNvSpPr/>
          <p:nvPr/>
        </p:nvSpPr>
        <p:spPr>
          <a:xfrm>
            <a:off x="6423660" y="4772664"/>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direction = 11: q = q. The coils keep their last pattern, so the motor holds position.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3785711"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3EFE6"/>
                </a:solidFill>
                <a:latin typeface="Space Grotesk" pitchFamily="34" charset="0"/>
                <a:ea typeface="Space Grotesk" pitchFamily="34" charset="-122"/>
                <a:cs typeface="Space Grotesk" pitchFamily="34" charset="-120"/>
              </a:rPr>
              <a:t>Step Sequence</a:t>
            </a:r>
            <a:endParaRPr lang="en-US" sz="3400" dirty="0"/>
          </a:p>
        </p:txBody>
      </p:sp>
      <p:sp>
        <p:nvSpPr>
          <p:cNvPr id="3" name="Text 1"/>
          <p:cNvSpPr/>
          <p:nvPr/>
        </p:nvSpPr>
        <p:spPr>
          <a:xfrm>
            <a:off x="10357834" y="925829"/>
            <a:ext cx="1021366"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2A33A"/>
                </a:solidFill>
                <a:latin typeface="Space Grotesk" pitchFamily="34" charset="0"/>
                <a:ea typeface="Space Grotesk" pitchFamily="34" charset="-122"/>
                <a:cs typeface="Space Grotesk" pitchFamily="34" charset="-120"/>
              </a:rPr>
              <a:t>Member 3</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1939"/>
          <a:ext cx="10556240" cy="1917700"/>
        </p:xfrm>
        <a:graphic>
          <a:graphicData uri="http://schemas.openxmlformats.org/drawingml/2006/table">
            <a:tbl>
              <a:tblPr/>
              <a:tblGrid>
                <a:gridCol w="2639060"/>
                <a:gridCol w="2639060"/>
                <a:gridCol w="2639060"/>
                <a:gridCol w="2639060"/>
              </a:tblGrid>
              <a:tr h="383540">
                <a:tc>
                  <a:txBody>
                    <a:bodyPr/>
                    <a:lstStyle/>
                    <a:p>
                      <a:pPr indent="0" marL="0">
                        <a:lnSpc>
                          <a:spcPts val="1960"/>
                        </a:lnSpc>
                        <a:buNone/>
                      </a:pPr>
                      <a:r>
                        <a:rPr lang="en-US" sz="1400" b="1" dirty="0">
                          <a:solidFill>
                            <a:srgbClr val="F3EFE6"/>
                          </a:solidFill>
                          <a:latin typeface="Space Grotesk" pitchFamily="34" charset="0"/>
                          <a:ea typeface="Space Grotesk" pitchFamily="34" charset="-122"/>
                          <a:cs typeface="Space Grotesk" pitchFamily="34" charset="-120"/>
                        </a:rPr>
                        <a:t>state</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30"/>
                    </a:solidFill>
                  </a:tcPr>
                </a:tc>
                <a:tc>
                  <a:txBody>
                    <a:bodyPr/>
                    <a:lstStyle/>
                    <a:p>
                      <a:pPr indent="0" marL="0">
                        <a:lnSpc>
                          <a:spcPts val="1960"/>
                        </a:lnSpc>
                        <a:buNone/>
                      </a:pPr>
                      <a:r>
                        <a:rPr lang="en-US" sz="1400" b="1" dirty="0">
                          <a:solidFill>
                            <a:srgbClr val="F3EFE6"/>
                          </a:solidFill>
                          <a:latin typeface="Space Grotesk" pitchFamily="34" charset="0"/>
                          <a:ea typeface="Space Grotesk" pitchFamily="34" charset="-122"/>
                          <a:cs typeface="Space Grotesk" pitchFamily="34" charset="-120"/>
                        </a:rPr>
                        <a:t>Up (01)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54565B"/>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30"/>
                    </a:solidFill>
                  </a:tcPr>
                </a:tc>
                <a:tc>
                  <a:txBody>
                    <a:bodyPr/>
                    <a:lstStyle/>
                    <a:p>
                      <a:pPr indent="0" marL="0">
                        <a:lnSpc>
                          <a:spcPts val="1960"/>
                        </a:lnSpc>
                        <a:buNone/>
                      </a:pPr>
                      <a:r>
                        <a:rPr lang="en-US" sz="1400" b="1" dirty="0">
                          <a:solidFill>
                            <a:srgbClr val="F3EFE6"/>
                          </a:solidFill>
                          <a:latin typeface="Space Grotesk" pitchFamily="34" charset="0"/>
                          <a:ea typeface="Space Grotesk" pitchFamily="34" charset="-122"/>
                          <a:cs typeface="Space Grotesk" pitchFamily="34" charset="-120"/>
                        </a:rPr>
                        <a:t>Down (10)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54565B"/>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30"/>
                    </a:solidFill>
                  </a:tcPr>
                </a:tc>
                <a:tc>
                  <a:txBody>
                    <a:bodyPr/>
                    <a:lstStyle/>
                    <a:p>
                      <a:pPr indent="0" marL="0">
                        <a:lnSpc>
                          <a:spcPts val="1960"/>
                        </a:lnSpc>
                        <a:buNone/>
                      </a:pPr>
                      <a:r>
                        <a:rPr lang="en-US" sz="1400" b="1" dirty="0">
                          <a:solidFill>
                            <a:srgbClr val="F3EFE6"/>
                          </a:solidFill>
                          <a:latin typeface="Space Grotesk" pitchFamily="34" charset="0"/>
                          <a:ea typeface="Space Grotesk" pitchFamily="34" charset="-122"/>
                          <a:cs typeface="Space Grotesk" pitchFamily="34" charset="-120"/>
                        </a:rPr>
                        <a:t>Hex up / down</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54565B"/>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30"/>
                    </a:solidFill>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0011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0110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3 / 6</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1001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1100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9 / C</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2</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1100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1001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C / 9</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3</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0110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0011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6 / 3</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bl>
          </a:graphicData>
        </a:graphic>
      </p:graphicFrame>
      <p:sp>
        <p:nvSpPr>
          <p:cNvPr id="5" name="Text 2"/>
          <p:cNvSpPr/>
          <p:nvPr/>
        </p:nvSpPr>
        <p:spPr>
          <a:xfrm>
            <a:off x="812800" y="3723642"/>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3B4"/>
                </a:solidFill>
                <a:latin typeface="Space Grotesk" pitchFamily="34" charset="0"/>
                <a:ea typeface="Space Grotesk" pitchFamily="34" charset="-122"/>
                <a:cs typeface="Space Grotesk" pitchFamily="34" charset="-120"/>
              </a:rPr>
              <a:t>Each pattern turns on two adjacent coils at a time (full-step drive). The up column is the down column in reverse order, which flips the rotation direction.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5842254"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3EFE6"/>
                </a:solidFill>
                <a:latin typeface="Space Grotesk" pitchFamily="34" charset="0"/>
                <a:ea typeface="Space Grotesk" pitchFamily="34" charset="-122"/>
                <a:cs typeface="Space Grotesk" pitchFamily="34" charset="-120"/>
              </a:rPr>
              <a:t>Display and Integration</a:t>
            </a:r>
            <a:endParaRPr lang="en-US" sz="3400" dirty="0"/>
          </a:p>
        </p:txBody>
      </p:sp>
      <p:sp>
        <p:nvSpPr>
          <p:cNvPr id="3" name="Text 1"/>
          <p:cNvSpPr/>
          <p:nvPr/>
        </p:nvSpPr>
        <p:spPr>
          <a:xfrm>
            <a:off x="10357834" y="925829"/>
            <a:ext cx="1021366"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2A33A"/>
                </a:solidFill>
                <a:latin typeface="Space Grotesk" pitchFamily="34" charset="0"/>
                <a:ea typeface="Space Grotesk" pitchFamily="34" charset="-122"/>
                <a:cs typeface="Space Grotesk" pitchFamily="34" charset="-120"/>
              </a:rPr>
              <a:t>Member 3</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1939"/>
          <a:ext cx="10556240" cy="1917700"/>
        </p:xfrm>
        <a:graphic>
          <a:graphicData uri="http://schemas.openxmlformats.org/drawingml/2006/table">
            <a:tbl>
              <a:tblPr/>
              <a:tblGrid>
                <a:gridCol w="3518747"/>
                <a:gridCol w="3518747"/>
                <a:gridCol w="3518747"/>
              </a:tblGrid>
              <a:tr h="383540">
                <a:tc>
                  <a:txBody>
                    <a:bodyPr/>
                    <a:lstStyle/>
                    <a:p>
                      <a:pPr indent="0" marL="0">
                        <a:lnSpc>
                          <a:spcPts val="1960"/>
                        </a:lnSpc>
                        <a:buNone/>
                      </a:pPr>
                      <a:r>
                        <a:rPr lang="en-US" sz="1400" b="1" dirty="0">
                          <a:solidFill>
                            <a:srgbClr val="F3EFE6"/>
                          </a:solidFill>
                          <a:latin typeface="Space Grotesk" pitchFamily="34" charset="0"/>
                          <a:ea typeface="Space Grotesk" pitchFamily="34" charset="-122"/>
                          <a:cs typeface="Space Grotesk" pitchFamily="34" charset="-120"/>
                        </a:rPr>
                        <a:t>current_floor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30"/>
                    </a:solidFill>
                  </a:tcPr>
                </a:tc>
                <a:tc>
                  <a:txBody>
                    <a:bodyPr/>
                    <a:lstStyle/>
                    <a:p>
                      <a:pPr indent="0" marL="0">
                        <a:lnSpc>
                          <a:spcPts val="1960"/>
                        </a:lnSpc>
                        <a:buNone/>
                      </a:pPr>
                      <a:r>
                        <a:rPr lang="en-US" sz="1400" b="1" dirty="0">
                          <a:solidFill>
                            <a:srgbClr val="F3EFE6"/>
                          </a:solidFill>
                          <a:latin typeface="Space Grotesk" pitchFamily="34" charset="0"/>
                          <a:ea typeface="Space Grotesk" pitchFamily="34" charset="-122"/>
                          <a:cs typeface="Space Grotesk" pitchFamily="34" charset="-120"/>
                        </a:rPr>
                        <a:t>disp [7:0]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54565B"/>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30"/>
                    </a:solidFill>
                  </a:tcPr>
                </a:tc>
                <a:tc>
                  <a:txBody>
                    <a:bodyPr/>
                    <a:lstStyle/>
                    <a:p>
                      <a:pPr indent="0" marL="0">
                        <a:lnSpc>
                          <a:spcPts val="1960"/>
                        </a:lnSpc>
                        <a:buNone/>
                      </a:pPr>
                      <a:r>
                        <a:rPr lang="en-US" sz="1400" b="1" dirty="0">
                          <a:solidFill>
                            <a:srgbClr val="F3EFE6"/>
                          </a:solidFill>
                          <a:latin typeface="Space Grotesk" pitchFamily="34" charset="0"/>
                          <a:ea typeface="Space Grotesk" pitchFamily="34" charset="-122"/>
                          <a:cs typeface="Space Grotesk" pitchFamily="34" charset="-120"/>
                        </a:rPr>
                        <a:t>Shows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54565B"/>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30"/>
                    </a:solidFill>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00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01111111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01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00000110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01011011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2</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r h="383540">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11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01001111</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3</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r>
            </a:tbl>
          </a:graphicData>
        </a:graphic>
      </p:graphicFrame>
      <p:sp>
        <p:nvSpPr>
          <p:cNvPr id="5" name="Text 2"/>
          <p:cNvSpPr/>
          <p:nvPr/>
        </p:nvSpPr>
        <p:spPr>
          <a:xfrm>
            <a:off x="812800" y="37236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3B4"/>
                </a:solidFill>
                <a:latin typeface="Space Grotesk" pitchFamily="34" charset="0"/>
                <a:ea typeface="Space Grotesk" pitchFamily="34" charset="-122"/>
                <a:cs typeface="Space Grotesk" pitchFamily="34" charset="-120"/>
              </a:rPr>
              <a:t>Combinational case statement on current_floor. Any other value shows 10000000.</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4927759"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Simulation Output 1</a:t>
            </a:r>
            <a:endParaRPr lang="en-US" sz="3400" dirty="0"/>
          </a:p>
        </p:txBody>
      </p:sp>
      <p:sp>
        <p:nvSpPr>
          <p:cNvPr id="3" name="Shape 1"/>
          <p:cNvSpPr/>
          <p:nvPr/>
        </p:nvSpPr>
        <p:spPr>
          <a:xfrm>
            <a:off x="825500" y="1554485"/>
            <a:ext cx="10541000" cy="4401820"/>
          </a:xfrm>
          <a:prstGeom prst="roundRect">
            <a:avLst>
              <a:gd name="adj" fmla="val 2020"/>
            </a:avLst>
          </a:prstGeom>
          <a:noFill/>
          <a:ln w="25400">
            <a:solidFill>
              <a:srgbClr val="B9B09A"/>
            </a:solidFill>
            <a:prstDash val="dash"/>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50012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Simulation Output 2</a:t>
            </a:r>
            <a:endParaRPr lang="en-US" sz="3400" dirty="0"/>
          </a:p>
        </p:txBody>
      </p:sp>
      <p:sp>
        <p:nvSpPr>
          <p:cNvPr id="3" name="Shape 1"/>
          <p:cNvSpPr/>
          <p:nvPr/>
        </p:nvSpPr>
        <p:spPr>
          <a:xfrm>
            <a:off x="825500" y="1554485"/>
            <a:ext cx="10541000" cy="4401820"/>
          </a:xfrm>
          <a:prstGeom prst="roundRect">
            <a:avLst>
              <a:gd name="adj" fmla="val 2020"/>
            </a:avLst>
          </a:prstGeom>
          <a:noFill/>
          <a:ln w="25400">
            <a:solidFill>
              <a:srgbClr val="B9B09A"/>
            </a:solidFill>
            <a:prstDash val="dash"/>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862804"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Results</a:t>
            </a:r>
            <a:endParaRPr lang="en-US" sz="3400" dirty="0"/>
          </a:p>
        </p:txBody>
      </p:sp>
      <p:sp>
        <p:nvSpPr>
          <p:cNvPr id="3" name="Shape 1"/>
          <p:cNvSpPr/>
          <p:nvPr/>
        </p:nvSpPr>
        <p:spPr>
          <a:xfrm>
            <a:off x="819150" y="1548135"/>
            <a:ext cx="5181600" cy="1574800"/>
          </a:xfrm>
          <a:prstGeom prst="roundRect">
            <a:avLst>
              <a:gd name="adj" fmla="val 6048"/>
            </a:avLst>
          </a:prstGeom>
          <a:solidFill>
            <a:srgbClr val="FFFDF8"/>
          </a:solidFill>
          <a:ln w="12700">
            <a:solidFill>
              <a:srgbClr val="DDD5C4"/>
            </a:solidFill>
            <a:prstDash val="solid"/>
          </a:ln>
        </p:spPr>
      </p:sp>
      <p:sp>
        <p:nvSpPr>
          <p:cNvPr id="4" name="Text 2"/>
          <p:cNvSpPr/>
          <p:nvPr/>
        </p:nvSpPr>
        <p:spPr>
          <a:xfrm>
            <a:off x="1051560" y="17805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Movement</a:t>
            </a:r>
            <a:endParaRPr lang="en-US" sz="1800" dirty="0"/>
          </a:p>
        </p:txBody>
      </p:sp>
      <p:sp>
        <p:nvSpPr>
          <p:cNvPr id="5" name="Text 3"/>
          <p:cNvSpPr/>
          <p:nvPr/>
        </p:nvSpPr>
        <p:spPr>
          <a:xfrm>
            <a:off x="1051560" y="2143758"/>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While the elevator moves, door_state stays 0 and q cycles through the stepper pattern. Up and down show opposite sequences.</a:t>
            </a:r>
            <a:endParaRPr lang="en-US" sz="1400" dirty="0"/>
          </a:p>
        </p:txBody>
      </p:sp>
      <p:sp>
        <p:nvSpPr>
          <p:cNvPr id="6" name="Shape 4"/>
          <p:cNvSpPr/>
          <p:nvPr/>
        </p:nvSpPr>
        <p:spPr>
          <a:xfrm>
            <a:off x="6191250" y="1548135"/>
            <a:ext cx="5181600" cy="1574800"/>
          </a:xfrm>
          <a:prstGeom prst="roundRect">
            <a:avLst>
              <a:gd name="adj" fmla="val 6048"/>
            </a:avLst>
          </a:prstGeom>
          <a:solidFill>
            <a:srgbClr val="FFFDF8"/>
          </a:solidFill>
          <a:ln w="12700">
            <a:solidFill>
              <a:srgbClr val="DDD5C4"/>
            </a:solidFill>
            <a:prstDash val="solid"/>
          </a:ln>
        </p:spPr>
      </p:sp>
      <p:sp>
        <p:nvSpPr>
          <p:cNvPr id="7" name="Text 5"/>
          <p:cNvSpPr/>
          <p:nvPr/>
        </p:nvSpPr>
        <p:spPr>
          <a:xfrm>
            <a:off x="6423660" y="17805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Arrival</a:t>
            </a:r>
            <a:endParaRPr lang="en-US" sz="1800" dirty="0"/>
          </a:p>
        </p:txBody>
      </p:sp>
      <p:sp>
        <p:nvSpPr>
          <p:cNvPr id="8" name="Text 6"/>
          <p:cNvSpPr/>
          <p:nvPr/>
        </p:nvSpPr>
        <p:spPr>
          <a:xfrm>
            <a:off x="6423660" y="2143758"/>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On reaching the requested floor the motor holds q, the door opens and the display shows the new floor.</a:t>
            </a:r>
            <a:endParaRPr lang="en-US" sz="1400" dirty="0"/>
          </a:p>
        </p:txBody>
      </p:sp>
      <p:sp>
        <p:nvSpPr>
          <p:cNvPr id="9" name="Shape 7"/>
          <p:cNvSpPr/>
          <p:nvPr/>
        </p:nvSpPr>
        <p:spPr>
          <a:xfrm>
            <a:off x="819150" y="3389635"/>
            <a:ext cx="5181600" cy="1325880"/>
          </a:xfrm>
          <a:prstGeom prst="roundRect">
            <a:avLst>
              <a:gd name="adj" fmla="val 7184"/>
            </a:avLst>
          </a:prstGeom>
          <a:solidFill>
            <a:srgbClr val="FFFDF8"/>
          </a:solidFill>
          <a:ln w="12700">
            <a:solidFill>
              <a:srgbClr val="DDD5C4"/>
            </a:solidFill>
            <a:prstDash val="solid"/>
          </a:ln>
        </p:spPr>
      </p:sp>
      <p:sp>
        <p:nvSpPr>
          <p:cNvPr id="10" name="Text 8"/>
          <p:cNvSpPr/>
          <p:nvPr/>
        </p:nvSpPr>
        <p:spPr>
          <a:xfrm>
            <a:off x="1051560" y="36220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Door buttons</a:t>
            </a:r>
            <a:endParaRPr lang="en-US" sz="1800" dirty="0"/>
          </a:p>
        </p:txBody>
      </p:sp>
      <p:sp>
        <p:nvSpPr>
          <p:cNvPr id="11" name="Text 9"/>
          <p:cNvSpPr/>
          <p:nvPr/>
        </p:nvSpPr>
        <p:spPr>
          <a:xfrm>
            <a:off x="1051560" y="3985258"/>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open_door keeps the door open for extra time; close_door shuts it immediately.</a:t>
            </a:r>
            <a:endParaRPr lang="en-US" sz="1400" dirty="0"/>
          </a:p>
        </p:txBody>
      </p:sp>
      <p:sp>
        <p:nvSpPr>
          <p:cNvPr id="12" name="Shape 10"/>
          <p:cNvSpPr/>
          <p:nvPr/>
        </p:nvSpPr>
        <p:spPr>
          <a:xfrm>
            <a:off x="6191250" y="3389635"/>
            <a:ext cx="5181600" cy="1325880"/>
          </a:xfrm>
          <a:prstGeom prst="roundRect">
            <a:avLst>
              <a:gd name="adj" fmla="val 7184"/>
            </a:avLst>
          </a:prstGeom>
          <a:solidFill>
            <a:srgbClr val="FFFDF8"/>
          </a:solidFill>
          <a:ln w="12700">
            <a:solidFill>
              <a:srgbClr val="DDD5C4"/>
            </a:solidFill>
            <a:prstDash val="solid"/>
          </a:ln>
        </p:spPr>
      </p:sp>
      <p:sp>
        <p:nvSpPr>
          <p:cNvPr id="13" name="Text 11"/>
          <p:cNvSpPr/>
          <p:nvPr/>
        </p:nvSpPr>
        <p:spPr>
          <a:xfrm>
            <a:off x="6423660" y="36220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Overload</a:t>
            </a:r>
            <a:endParaRPr lang="en-US" sz="1800" dirty="0"/>
          </a:p>
        </p:txBody>
      </p:sp>
      <p:sp>
        <p:nvSpPr>
          <p:cNvPr id="14" name="Text 12"/>
          <p:cNvSpPr/>
          <p:nvPr/>
        </p:nvSpPr>
        <p:spPr>
          <a:xfrm>
            <a:off x="6423660" y="3985258"/>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With over_weight = 1 the door stays open, direction = stop and over_weight_alert = 1 until the sensor clears.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1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3051524"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3EFE6"/>
                </a:solidFill>
                <a:latin typeface="Space Grotesk" pitchFamily="34" charset="0"/>
                <a:ea typeface="Space Grotesk" pitchFamily="34" charset="-122"/>
                <a:cs typeface="Space Grotesk" pitchFamily="34" charset="-120"/>
              </a:rPr>
              <a:t>Future Work</a:t>
            </a:r>
            <a:endParaRPr lang="en-US" sz="3400" dirty="0"/>
          </a:p>
        </p:txBody>
      </p:sp>
      <p:sp>
        <p:nvSpPr>
          <p:cNvPr id="3" name="Shape 1"/>
          <p:cNvSpPr/>
          <p:nvPr/>
        </p:nvSpPr>
        <p:spPr>
          <a:xfrm>
            <a:off x="819150" y="1548135"/>
            <a:ext cx="5181600" cy="1574800"/>
          </a:xfrm>
          <a:prstGeom prst="roundRect">
            <a:avLst>
              <a:gd name="adj" fmla="val 6048"/>
            </a:avLst>
          </a:prstGeom>
          <a:solidFill>
            <a:srgbClr val="1C2231"/>
          </a:solidFill>
          <a:ln w="12700">
            <a:solidFill>
              <a:srgbClr val="2A3142"/>
            </a:solidFill>
            <a:prstDash val="solid"/>
          </a:ln>
        </p:spPr>
      </p:sp>
      <p:sp>
        <p:nvSpPr>
          <p:cNvPr id="4" name="Text 2"/>
          <p:cNvSpPr/>
          <p:nvPr/>
        </p:nvSpPr>
        <p:spPr>
          <a:xfrm>
            <a:off x="1051560" y="17805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FPGA implementation</a:t>
            </a:r>
            <a:endParaRPr lang="en-US" sz="1800" dirty="0"/>
          </a:p>
        </p:txBody>
      </p:sp>
      <p:sp>
        <p:nvSpPr>
          <p:cNvPr id="5" name="Text 3"/>
          <p:cNvSpPr/>
          <p:nvPr/>
        </p:nvSpPr>
        <p:spPr>
          <a:xfrm>
            <a:off x="1051560" y="2143758"/>
            <a:ext cx="48582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Synthesise the design and test it on a development board. Replace the # delays, which are for simulation only, with clock counters.</a:t>
            </a:r>
            <a:endParaRPr lang="en-US" sz="1400" dirty="0"/>
          </a:p>
        </p:txBody>
      </p:sp>
      <p:sp>
        <p:nvSpPr>
          <p:cNvPr id="6" name="Shape 4"/>
          <p:cNvSpPr/>
          <p:nvPr/>
        </p:nvSpPr>
        <p:spPr>
          <a:xfrm>
            <a:off x="6191250" y="1548135"/>
            <a:ext cx="5181600" cy="1574800"/>
          </a:xfrm>
          <a:prstGeom prst="roundRect">
            <a:avLst>
              <a:gd name="adj" fmla="val 6048"/>
            </a:avLst>
          </a:prstGeom>
          <a:solidFill>
            <a:srgbClr val="1C2231"/>
          </a:solidFill>
          <a:ln w="12700">
            <a:solidFill>
              <a:srgbClr val="2A3142"/>
            </a:solidFill>
            <a:prstDash val="solid"/>
          </a:ln>
        </p:spPr>
      </p:sp>
      <p:sp>
        <p:nvSpPr>
          <p:cNvPr id="7" name="Text 5"/>
          <p:cNvSpPr/>
          <p:nvPr/>
        </p:nvSpPr>
        <p:spPr>
          <a:xfrm>
            <a:off x="6423660" y="17805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Synthesis-friendly rewrite</a:t>
            </a:r>
            <a:endParaRPr lang="en-US" sz="1800" dirty="0"/>
          </a:p>
        </p:txBody>
      </p:sp>
      <p:sp>
        <p:nvSpPr>
          <p:cNvPr id="8" name="Text 6"/>
          <p:cNvSpPr/>
          <p:nvPr/>
        </p:nvSpPr>
        <p:spPr>
          <a:xfrm>
            <a:off x="6423660" y="2143758"/>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Convert the behavioural blocks into a clocked FSM and use rst properly.</a:t>
            </a:r>
            <a:endParaRPr lang="en-US" sz="1400" dirty="0"/>
          </a:p>
        </p:txBody>
      </p:sp>
      <p:sp>
        <p:nvSpPr>
          <p:cNvPr id="9" name="Shape 7"/>
          <p:cNvSpPr/>
          <p:nvPr/>
        </p:nvSpPr>
        <p:spPr>
          <a:xfrm>
            <a:off x="819150" y="3389635"/>
            <a:ext cx="5181600" cy="1076960"/>
          </a:xfrm>
          <a:prstGeom prst="roundRect">
            <a:avLst>
              <a:gd name="adj" fmla="val 8844"/>
            </a:avLst>
          </a:prstGeom>
          <a:solidFill>
            <a:srgbClr val="1C2231"/>
          </a:solidFill>
          <a:ln w="12700">
            <a:solidFill>
              <a:srgbClr val="2A3142"/>
            </a:solidFill>
            <a:prstDash val="solid"/>
          </a:ln>
        </p:spPr>
      </p:sp>
      <p:sp>
        <p:nvSpPr>
          <p:cNvPr id="10" name="Text 8"/>
          <p:cNvSpPr/>
          <p:nvPr/>
        </p:nvSpPr>
        <p:spPr>
          <a:xfrm>
            <a:off x="1051560" y="36220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More floors</a:t>
            </a:r>
            <a:endParaRPr lang="en-US" sz="1800" dirty="0"/>
          </a:p>
        </p:txBody>
      </p:sp>
      <p:sp>
        <p:nvSpPr>
          <p:cNvPr id="11" name="Text 9"/>
          <p:cNvSpPr/>
          <p:nvPr/>
        </p:nvSpPr>
        <p:spPr>
          <a:xfrm>
            <a:off x="1051560" y="3985258"/>
            <a:ext cx="485828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Widen the floor registers and request arrays.</a:t>
            </a:r>
            <a:endParaRPr lang="en-US" sz="1400" dirty="0"/>
          </a:p>
        </p:txBody>
      </p:sp>
      <p:sp>
        <p:nvSpPr>
          <p:cNvPr id="12" name="Shape 10"/>
          <p:cNvSpPr/>
          <p:nvPr/>
        </p:nvSpPr>
        <p:spPr>
          <a:xfrm>
            <a:off x="6191250" y="3389635"/>
            <a:ext cx="5181600" cy="1076960"/>
          </a:xfrm>
          <a:prstGeom prst="roundRect">
            <a:avLst>
              <a:gd name="adj" fmla="val 8844"/>
            </a:avLst>
          </a:prstGeom>
          <a:solidFill>
            <a:srgbClr val="1C2231"/>
          </a:solidFill>
          <a:ln w="12700">
            <a:solidFill>
              <a:srgbClr val="2A3142"/>
            </a:solidFill>
            <a:prstDash val="solid"/>
          </a:ln>
        </p:spPr>
      </p:sp>
      <p:sp>
        <p:nvSpPr>
          <p:cNvPr id="13" name="Text 11"/>
          <p:cNvSpPr/>
          <p:nvPr/>
        </p:nvSpPr>
        <p:spPr>
          <a:xfrm>
            <a:off x="6423660" y="3622042"/>
            <a:ext cx="48582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33A"/>
                </a:solidFill>
                <a:latin typeface="Space Grotesk" pitchFamily="34" charset="0"/>
                <a:ea typeface="Space Grotesk" pitchFamily="34" charset="-122"/>
                <a:cs typeface="Space Grotesk" pitchFamily="34" charset="-120"/>
              </a:rPr>
              <a:t>Safety features</a:t>
            </a:r>
            <a:endParaRPr lang="en-US" sz="1800" dirty="0"/>
          </a:p>
        </p:txBody>
      </p:sp>
      <p:sp>
        <p:nvSpPr>
          <p:cNvPr id="14" name="Text 12"/>
          <p:cNvSpPr/>
          <p:nvPr/>
        </p:nvSpPr>
        <p:spPr>
          <a:xfrm>
            <a:off x="6423660" y="3985258"/>
            <a:ext cx="485828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Space Grotesk" pitchFamily="34" charset="0"/>
                <a:ea typeface="Space Grotesk" pitchFamily="34" charset="-122"/>
                <a:cs typeface="Space Grotesk" pitchFamily="34" charset="-120"/>
              </a:rPr>
              <a:t>Emergency stop, door sensor, floor position sensors.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2776347"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Conclusion</a:t>
            </a:r>
            <a:endParaRPr lang="en-US" sz="3400" dirty="0"/>
          </a:p>
        </p:txBody>
      </p:sp>
      <p:sp>
        <p:nvSpPr>
          <p:cNvPr id="3" name="Text 1"/>
          <p:cNvSpPr/>
          <p:nvPr/>
        </p:nvSpPr>
        <p:spPr>
          <a:xfrm>
            <a:off x="812800" y="154178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A5446"/>
                </a:solidFill>
                <a:latin typeface="Space Grotesk" pitchFamily="34" charset="0"/>
                <a:ea typeface="Space Grotesk" pitchFamily="34" charset="-122"/>
                <a:cs typeface="Space Grotesk" pitchFamily="34" charset="-120"/>
              </a:rPr>
              <a:t>We designed and simulated a 4-floor elevator controller in Verilog HDL.</a:t>
            </a:r>
            <a:endParaRPr lang="en-US" sz="1600" dirty="0"/>
          </a:p>
        </p:txBody>
      </p:sp>
      <p:sp>
        <p:nvSpPr>
          <p:cNvPr id="4" name="Shape 2"/>
          <p:cNvSpPr/>
          <p:nvPr/>
        </p:nvSpPr>
        <p:spPr>
          <a:xfrm>
            <a:off x="819150" y="2086608"/>
            <a:ext cx="33909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2319027"/>
            <a:ext cx="301386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Scheduling</a:t>
            </a:r>
            <a:endParaRPr lang="en-US" sz="1800" dirty="0"/>
          </a:p>
        </p:txBody>
      </p:sp>
      <p:sp>
        <p:nvSpPr>
          <p:cNvPr id="6" name="Text 4"/>
          <p:cNvSpPr/>
          <p:nvPr/>
        </p:nvSpPr>
        <p:spPr>
          <a:xfrm>
            <a:off x="1051560" y="2682242"/>
            <a:ext cx="301386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SCAN serves requests along the sweep, using three request arrays and req_count.</a:t>
            </a:r>
            <a:endParaRPr lang="en-US" sz="1400" dirty="0"/>
          </a:p>
        </p:txBody>
      </p:sp>
      <p:sp>
        <p:nvSpPr>
          <p:cNvPr id="7" name="Shape 5"/>
          <p:cNvSpPr/>
          <p:nvPr/>
        </p:nvSpPr>
        <p:spPr>
          <a:xfrm>
            <a:off x="4400550" y="2086608"/>
            <a:ext cx="33909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4632960" y="2319027"/>
            <a:ext cx="301386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Safety and control</a:t>
            </a:r>
            <a:endParaRPr lang="en-US" sz="1800" dirty="0"/>
          </a:p>
        </p:txBody>
      </p:sp>
      <p:sp>
        <p:nvSpPr>
          <p:cNvPr id="9" name="Text 7"/>
          <p:cNvSpPr/>
          <p:nvPr/>
        </p:nvSpPr>
        <p:spPr>
          <a:xfrm>
            <a:off x="4632960" y="2682242"/>
            <a:ext cx="301386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Door timing, open/close buttons and the overload alert work as intended.</a:t>
            </a:r>
            <a:endParaRPr lang="en-US" sz="1400" dirty="0"/>
          </a:p>
        </p:txBody>
      </p:sp>
      <p:sp>
        <p:nvSpPr>
          <p:cNvPr id="10" name="Shape 8"/>
          <p:cNvSpPr/>
          <p:nvPr/>
        </p:nvSpPr>
        <p:spPr>
          <a:xfrm>
            <a:off x="7981950" y="2086608"/>
            <a:ext cx="3390900" cy="1574800"/>
          </a:xfrm>
          <a:prstGeom prst="roundRect">
            <a:avLst>
              <a:gd name="adj" fmla="val 6048"/>
            </a:avLst>
          </a:prstGeom>
          <a:solidFill>
            <a:srgbClr val="FFFDF8"/>
          </a:solidFill>
          <a:ln w="12700">
            <a:solidFill>
              <a:srgbClr val="DDD5C4"/>
            </a:solidFill>
            <a:prstDash val="solid"/>
          </a:ln>
        </p:spPr>
      </p:sp>
      <p:sp>
        <p:nvSpPr>
          <p:cNvPr id="11" name="Text 9"/>
          <p:cNvSpPr/>
          <p:nvPr/>
        </p:nvSpPr>
        <p:spPr>
          <a:xfrm>
            <a:off x="8214360" y="2319027"/>
            <a:ext cx="301386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Peripherals</a:t>
            </a:r>
            <a:endParaRPr lang="en-US" sz="1800" dirty="0"/>
          </a:p>
        </p:txBody>
      </p:sp>
      <p:sp>
        <p:nvSpPr>
          <p:cNvPr id="12" name="Text 10"/>
          <p:cNvSpPr/>
          <p:nvPr/>
        </p:nvSpPr>
        <p:spPr>
          <a:xfrm>
            <a:off x="8214360" y="2682242"/>
            <a:ext cx="301386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61F"/>
                </a:solidFill>
                <a:latin typeface="Space Grotesk" pitchFamily="34" charset="0"/>
                <a:ea typeface="Space Grotesk" pitchFamily="34" charset="-122"/>
                <a:cs typeface="Space Grotesk" pitchFamily="34" charset="-120"/>
              </a:rPr>
              <a:t>The stepper driver and 7-segment decoder respond correctly to direction and floor.</a:t>
            </a:r>
            <a:endParaRPr lang="en-US" sz="1400" dirty="0"/>
          </a:p>
        </p:txBody>
      </p:sp>
      <p:sp>
        <p:nvSpPr>
          <p:cNvPr id="13" name="Text 11"/>
          <p:cNvSpPr/>
          <p:nvPr/>
        </p:nvSpPr>
        <p:spPr>
          <a:xfrm>
            <a:off x="812800" y="3921758"/>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36B00"/>
                </a:solidFill>
                <a:latin typeface="Space Grotesk" pitchFamily="34" charset="0"/>
                <a:ea typeface="Space Grotesk" pitchFamily="34" charset="-122"/>
                <a:cs typeface="Space Grotesk" pitchFamily="34" charset="-120"/>
              </a:rPr>
              <a:t>Thank you. Questions?</a:t>
            </a:r>
            <a:endParaRPr lang="en-US" sz="1800" dirty="0"/>
          </a:p>
        </p:txBody>
      </p:sp>
    </p:spTree>
  </p:cSld>
  <p:clrMapOvr>
    <a:masterClrMapping/>
  </p:clrMapOvr>
</p:sld>
</file>

<file path=ppt/theme/theme1.xml><?xml version="1.0" encoding="utf-8"?>
<a:theme xmlns:a="http://schemas.openxmlformats.org/drawingml/2006/main" name="Elevator Controller on FPGA">
  <a:themeElements>
    <a:clrScheme name="Elevator Controller on FPGA">
      <a:dk1>
        <a:srgbClr val="12161F"/>
      </a:dk1>
      <a:lt1>
        <a:srgbClr val="F3EFE6"/>
      </a:lt1>
      <a:dk2>
        <a:srgbClr val="4A4C51"/>
      </a:dk2>
      <a:lt2>
        <a:srgbClr val="DDD9D2"/>
      </a:lt2>
      <a:accent1>
        <a:srgbClr val="B36B00"/>
      </a:accent1>
      <a:accent2>
        <a:srgbClr val="F2A33A"/>
      </a:accent2>
      <a:accent3>
        <a:srgbClr val="3FB8A5"/>
      </a:accent3>
      <a:accent4>
        <a:srgbClr val="C9C3B4"/>
      </a:accent4>
      <a:accent5>
        <a:srgbClr val="5A5446"/>
      </a:accent5>
      <a:accent6>
        <a:srgbClr val="9AA0A6"/>
      </a:accent6>
      <a:hlink>
        <a:srgbClr val="0563C1"/>
      </a:hlink>
      <a:folHlink>
        <a:srgbClr val="954F72"/>
      </a:folHlink>
    </a:clrScheme>
    <a:fontScheme name="Elevator Controller on FPGA">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Elevator Controller on FPGA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2026-10-28T19:09:52Z</dcterms:created>
  <dcterms:modified xsi:type="dcterms:W3CDTF">2026-10-28T19:09:52Z</dcterms:modified>
</cp:coreProperties>
</file>