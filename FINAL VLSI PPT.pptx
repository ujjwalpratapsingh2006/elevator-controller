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1" r:id="rId1"/>
  </p:sldMasterIdLst>
  <p:notesMasterIdLst>
    <p:notesMasterId r:id="rId23"/>
  </p:notesMasterIdLst>
  <p:sldIdLst>
    <p:sldId id="256" r:id="rId2"/>
    <p:sldId id="257" r:id="rId3"/>
    <p:sldId id="258" r:id="rId4"/>
    <p:sldId id="259" r:id="rId5"/>
    <p:sldId id="260" r:id="rId6"/>
    <p:sldId id="261" r:id="rId7"/>
    <p:sldId id="277" r:id="rId8"/>
    <p:sldId id="263" r:id="rId9"/>
    <p:sldId id="264" r:id="rId10"/>
    <p:sldId id="265" r:id="rId11"/>
    <p:sldId id="266" r:id="rId12"/>
    <p:sldId id="267" r:id="rId13"/>
    <p:sldId id="268" r:id="rId14"/>
    <p:sldId id="269" r:id="rId15"/>
    <p:sldId id="270" r:id="rId16"/>
    <p:sldId id="271" r:id="rId17"/>
    <p:sldId id="272" r:id="rId18"/>
    <p:sldId id="276" r:id="rId19"/>
    <p:sldId id="273" r:id="rId20"/>
    <p:sldId id="274" r:id="rId21"/>
    <p:sldId id="275" r:id="rId22"/>
  </p:sldIdLst>
  <p:sldSz cx="12192000" cy="6858000"/>
  <p:notesSz cx="6858000" cy="12192000"/>
  <p:embeddedFontLst>
    <p:embeddedFont>
      <p:font typeface="Felix Titling" panose="04060505060202020A04" pitchFamily="82" charset="0"/>
      <p:regular r:id="rId24"/>
    </p:embeddedFont>
    <p:embeddedFont>
      <p:font typeface="Goudy Old Style" panose="02020502050305020303" pitchFamily="18" charset="0"/>
      <p:regular r:id="rId25"/>
      <p:bold r:id="rId26"/>
      <p:italic r:id="rId27"/>
    </p:embeddedFont>
    <p:embeddedFont>
      <p:font typeface="Space Grotesk" panose="020B0604020202020204" charset="0"/>
      <p:regular r:id="rId28"/>
      <p:bold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1414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the three modules: elevator (control logic), stepper_motor, seven_seg_disp, tied together by elevator_cont_Machine.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implemented and verified at the software (RTL simulation) level.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 number = floor number. Example: req_floor = 0100 means floor 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of the top module: door_state, over_weight_alert, disp, q.</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chart: request, compare with current floor, overweight check, then up or down. The code uses 2-bit floors f0..f3.</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is illustrative. The key point: requests behind the car wait for the reverse sweep.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78D51-C144-BB0C-A684-B16BC9793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EC4C4-91D5-517A-8D0F-3CD8E8F2A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C81A01-2D37-9753-DE02-B07A46303818}"/>
              </a:ext>
            </a:extLst>
          </p:cNvPr>
          <p:cNvSpPr>
            <a:spLocks noGrp="1"/>
          </p:cNvSpPr>
          <p:nvPr>
            <p:ph type="body" idx="1"/>
          </p:nvPr>
        </p:nvSpPr>
        <p:spPr/>
        <p:txBody>
          <a:bodyPr/>
          <a:lstStyle/>
          <a:p>
            <a:r>
              <a:rPr lang="en-US" dirty="0"/>
              <a:t>Bit number = floor number. Example: req_floor = 0100 means floor 2.</a:t>
            </a:r>
          </a:p>
        </p:txBody>
      </p:sp>
      <p:sp>
        <p:nvSpPr>
          <p:cNvPr id="4" name="Slide Number Placeholder 3">
            <a:extLst>
              <a:ext uri="{FF2B5EF4-FFF2-40B4-BE49-F238E27FC236}">
                <a16:creationId xmlns:a16="http://schemas.microsoft.com/office/drawing/2014/main" id="{9DB15FCF-24A2-B013-DAD3-9811F29D4CB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67589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calls exist only for floors 0 to 2 and down calls only for floors 1 to 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runs when current_floor changes or st, complete or rpt1 rise.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codes: 01 up, 10 down, 11 stop.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matching direction array is cleared: up array on an up sweep, down array on a down sweep, and flr_req_arr in both.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Delays are simulation delays, so they model real motion and door time.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step per clock edge, so clock speed sets motor speed. The elevator block decides how long to move.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waveform, q toggles through these patterns while the elevator moves, and stays flat when it is idle.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 order on disp is as written in seven_seg_disp.v. Top module hooks all three blocks together.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simulation screenshot here.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simulation screenshot here.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54ED9-5AD8-63A9-B3A3-7A08B5556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D46D1-4C28-A525-351C-E58AE9CA6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8C7AB-1E79-54F1-0620-E4E8CBA39B13}"/>
              </a:ext>
            </a:extLst>
          </p:cNvPr>
          <p:cNvSpPr>
            <a:spLocks noGrp="1"/>
          </p:cNvSpPr>
          <p:nvPr>
            <p:ph type="body" idx="1"/>
          </p:nvPr>
        </p:nvSpPr>
        <p:spPr/>
        <p:txBody>
          <a:bodyPr/>
          <a:lstStyle/>
          <a:p>
            <a:r>
              <a:rPr lang="en-US" dirty="0"/>
              <a:t>Paste simulation screenshot here.</a:t>
            </a:r>
          </a:p>
        </p:txBody>
      </p:sp>
      <p:sp>
        <p:nvSpPr>
          <p:cNvPr id="4" name="Slide Number Placeholder 3">
            <a:extLst>
              <a:ext uri="{FF2B5EF4-FFF2-40B4-BE49-F238E27FC236}">
                <a16:creationId xmlns:a16="http://schemas.microsoft.com/office/drawing/2014/main" id="{D04F7A39-2AF3-A0A5-0E79-7E63C58C09B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7200588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simulation slides for each behaviour.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design is behavioural and simulation-only; this is the path to hardware.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behaviour verified in ISim waveforms. Names of presenters can go here.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10/29/2026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3703491470"/>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33000540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10/29/2026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273617047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dirty="0"/>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t>10/29/2026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t>‹#›</a:t>
            </a:fld>
            <a:endParaRPr lang="en-US" dirty="0"/>
          </a:p>
        </p:txBody>
      </p:sp>
    </p:spTree>
    <p:extLst>
      <p:ext uri="{BB962C8B-B14F-4D97-AF65-F5344CB8AC3E}">
        <p14:creationId xmlns:p14="http://schemas.microsoft.com/office/powerpoint/2010/main" val="417784324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10/29/2026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008127"/>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6612831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1">
              <a:rPr lang="en-US" smtClean="0"/>
              <a:pPr/>
              <a:t>10/29/2026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25092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91713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173463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10/29/2026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373581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10/29/2026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13451719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10/29/2026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00007510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10/29/2026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94204566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10/29/2026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34864135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10/29/2026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23740893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1">
              <a:rPr lang="en-US" smtClean="0"/>
              <a:pPr/>
              <a:t>10/29/2026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157543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10/29/2026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66311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10/29/2026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997825874"/>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10/29/2026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96578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10/29/2026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146013739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10/29/2026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90459215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1">
              <a:rPr lang="en-US" smtClean="0"/>
              <a:pPr/>
              <a:t>10/29/2026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44179222"/>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1">
              <a:rPr lang="en-US" smtClean="0"/>
              <a:pPr/>
              <a:t>10/29/2026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7604475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1">
              <a:rPr lang="en-US" smtClean="0"/>
              <a:pPr/>
              <a:t>10/29/2026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4383879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1">
              <a:rPr lang="en-US" smtClean="0"/>
              <a:pPr/>
              <a:t>10/29/2026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13788724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1">
              <a:rPr lang="en-US" smtClean="0"/>
              <a:pPr/>
              <a:t>10/29/2026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107148520"/>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10/29/2026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7699315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itle and body">
    <p:bg>
      <p:bgPr>
        <a:solidFill>
          <a:srgbClr val="F3EFE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4153932" cy="474980"/>
          </a:xfrm>
          <a:prstGeom prst="rect">
            <a:avLst/>
          </a:prstGeom>
          <a:noFill/>
          <a:ln/>
        </p:spPr>
        <p:txBody>
          <a:bodyPr wrap="square" lIns="0" tIns="0" rIns="0" bIns="0" rtlCol="0" anchor="t"/>
          <a:lstStyle>
            <a:lvl1pPr marL="0" indent="0" algn="l">
              <a:lnSpc>
                <a:spcPct val="115000"/>
              </a:lnSpc>
              <a:buNone/>
              <a:defRPr lang="en-US" sz="3400" dirty="0">
                <a:solidFill>
                  <a:srgbClr val="12161F"/>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1592580"/>
            <a:ext cx="10566400" cy="4452620"/>
          </a:xfrm>
          <a:prstGeom prst="rect">
            <a:avLst/>
          </a:prstGeom>
          <a:noFill/>
          <a:ln/>
        </p:spPr>
        <p:txBody>
          <a:bodyPr wrap="square" lIns="0" tIns="0" rIns="0" bIns="0" rtlCol="0" anchor="t"/>
          <a:lstStyle>
            <a:lvl1pPr marL="0" indent="0" algn="l">
              <a:lnSpc>
                <a:spcPct val="140000"/>
              </a:lnSpc>
              <a:buNone/>
              <a:defRPr lang="en-US" sz="1600" dirty="0">
                <a:solidFill>
                  <a:srgbClr val="12161F"/>
                </a:solidFill>
                <a:latin typeface="Space Grotesk" pitchFamily="34" charset="0"/>
                <a:ea typeface="Space Grotesk" pitchFamily="34" charset="-122"/>
                <a:cs typeface="Space Grotesk"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51823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10/29/2026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2159489822"/>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 id="2147483675" r:id="rId24"/>
    <p:sldLayoutId id="2147483676" r:id="rId25"/>
    <p:sldLayoutId id="2147483677" r:id="rId26"/>
    <p:sldLayoutId id="2147483678" r:id="rId27"/>
    <p:sldLayoutId id="2147483679" r:id="rId28"/>
  </p:sldLayoutIdLst>
  <p:hf sldNum="0"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FE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36B00"/>
                </a:solidFill>
                <a:latin typeface="Space Grotesk" pitchFamily="34" charset="0"/>
                <a:ea typeface="Space Grotesk" pitchFamily="34" charset="-122"/>
                <a:cs typeface="Space Grotesk" pitchFamily="34" charset="-120"/>
              </a:rPr>
              <a:t>VLSI LAB PROJECT</a:t>
            </a:r>
            <a:endParaRPr lang="en-US" sz="1500" dirty="0"/>
          </a:p>
        </p:txBody>
      </p:sp>
      <p:sp>
        <p:nvSpPr>
          <p:cNvPr id="3" name="Text 1"/>
          <p:cNvSpPr>
            <a:spLocks noGrp="1"/>
          </p:cNvSpPr>
          <p:nvPr>
            <p:ph type="title"/>
          </p:nvPr>
        </p:nvSpPr>
        <p:spPr>
          <a:xfrm>
            <a:off x="812800" y="1333500"/>
            <a:ext cx="10883392" cy="1358900"/>
          </a:xfrm>
          <a:prstGeom prst="rect">
            <a:avLst/>
          </a:prstGeom>
          <a:noFill/>
          <a:ln/>
        </p:spPr>
        <p:txBody>
          <a:bodyPr wrap="square" lIns="0" tIns="0" rIns="0" bIns="0" rtlCol="0" anchor="t">
            <a:normAutofit/>
          </a:bodyPr>
          <a:lstStyle/>
          <a:p>
            <a:pPr marL="0" indent="0" algn="l">
              <a:lnSpc>
                <a:spcPts val="5250"/>
              </a:lnSpc>
              <a:buNone/>
            </a:pPr>
            <a:r>
              <a:rPr lang="en-US" sz="5000" b="1" i="0" dirty="0">
                <a:solidFill>
                  <a:srgbClr val="12161F"/>
                </a:solidFill>
                <a:latin typeface="Space Grotesk" pitchFamily="34" charset="0"/>
                <a:ea typeface="Space Grotesk" pitchFamily="34" charset="-122"/>
                <a:cs typeface="Space Grotesk" pitchFamily="34" charset="-120"/>
              </a:rPr>
              <a:t>Elevator Controller</a:t>
            </a:r>
            <a:endParaRPr lang="en-US" sz="5000" dirty="0"/>
          </a:p>
          <a:p>
            <a:pPr marL="0" indent="0" algn="l">
              <a:lnSpc>
                <a:spcPts val="5250"/>
              </a:lnSpc>
              <a:buNone/>
            </a:pPr>
            <a:r>
              <a:rPr lang="en-US" sz="5000" b="1" i="0" dirty="0">
                <a:solidFill>
                  <a:srgbClr val="12161F"/>
                </a:solidFill>
                <a:latin typeface="Space Grotesk" pitchFamily="34" charset="0"/>
                <a:ea typeface="Space Grotesk" pitchFamily="34" charset="-122"/>
                <a:cs typeface="Space Grotesk" pitchFamily="34" charset="-120"/>
              </a:rPr>
              <a:t>in Verilog HDL</a:t>
            </a:r>
            <a:endParaRPr lang="en-US" sz="5000" dirty="0"/>
          </a:p>
        </p:txBody>
      </p:sp>
      <p:sp>
        <p:nvSpPr>
          <p:cNvPr id="4" name="Text 2"/>
          <p:cNvSpPr/>
          <p:nvPr/>
        </p:nvSpPr>
        <p:spPr>
          <a:xfrm>
            <a:off x="812800" y="2921000"/>
            <a:ext cx="10883392" cy="658962"/>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5A5446"/>
                </a:solidFill>
                <a:latin typeface="Space Grotesk" pitchFamily="34" charset="0"/>
                <a:ea typeface="Space Grotesk" pitchFamily="34" charset="-122"/>
                <a:cs typeface="Space Grotesk" pitchFamily="34" charset="-120"/>
              </a:rPr>
              <a:t>4-floor SCAN scheduling, stepper motor drive and 7-segment floor display- RTL Design and Simulation in Verilog HDL</a:t>
            </a:r>
            <a:endParaRPr lang="en-US" sz="1800" dirty="0"/>
          </a:p>
        </p:txBody>
      </p:sp>
      <p:sp>
        <p:nvSpPr>
          <p:cNvPr id="5" name="Text 3"/>
          <p:cNvSpPr/>
          <p:nvPr/>
        </p:nvSpPr>
        <p:spPr>
          <a:xfrm>
            <a:off x="812800" y="3495040"/>
            <a:ext cx="10883392" cy="2784990"/>
          </a:xfrm>
          <a:prstGeom prst="rect">
            <a:avLst/>
          </a:prstGeom>
          <a:noFill/>
          <a:ln/>
        </p:spPr>
        <p:txBody>
          <a:bodyPr wrap="square" lIns="0" tIns="0" rIns="0" bIns="0" rtlCol="0" anchor="t">
            <a:normAutofit/>
          </a:bodyPr>
          <a:lstStyle/>
          <a:p>
            <a:pPr>
              <a:lnSpc>
                <a:spcPts val="1960"/>
              </a:lnSpc>
            </a:pPr>
            <a:endParaRPr lang="en-US" sz="1400" dirty="0">
              <a:solidFill>
                <a:srgbClr val="1F7F70"/>
              </a:solidFill>
              <a:latin typeface="Space Grotesk" pitchFamily="34" charset="0"/>
              <a:ea typeface="Space Grotesk" pitchFamily="34" charset="-122"/>
              <a:cs typeface="Space Grotesk" pitchFamily="34" charset="-120"/>
            </a:endParaRPr>
          </a:p>
          <a:p>
            <a:pPr>
              <a:lnSpc>
                <a:spcPts val="1960"/>
              </a:lnSpc>
            </a:pPr>
            <a:endParaRPr lang="en-US" sz="1400" dirty="0">
              <a:solidFill>
                <a:srgbClr val="1F7F70"/>
              </a:solidFill>
              <a:latin typeface="Space Grotesk" pitchFamily="34" charset="0"/>
              <a:ea typeface="Space Grotesk" pitchFamily="34" charset="-122"/>
              <a:cs typeface="Space Grotesk" pitchFamily="34" charset="-120"/>
            </a:endParaRPr>
          </a:p>
          <a:p>
            <a:pPr>
              <a:lnSpc>
                <a:spcPts val="1960"/>
              </a:lnSpc>
            </a:pPr>
            <a:r>
              <a:rPr lang="en-US" sz="1400" dirty="0">
                <a:solidFill>
                  <a:srgbClr val="1F7F70"/>
                </a:solidFill>
                <a:latin typeface="Space Grotesk" pitchFamily="34" charset="0"/>
                <a:ea typeface="Space Grotesk" pitchFamily="34" charset="-122"/>
                <a:cs typeface="Space Grotesk" pitchFamily="34" charset="-120"/>
              </a:rPr>
              <a:t>Team	· Tsering Angmo - 20244165 </a:t>
            </a:r>
          </a:p>
          <a:p>
            <a:pPr marL="0" indent="0" algn="l">
              <a:lnSpc>
                <a:spcPts val="1960"/>
              </a:lnSpc>
              <a:buNone/>
            </a:pPr>
            <a:r>
              <a:rPr lang="en-US" sz="1400" dirty="0">
                <a:solidFill>
                  <a:srgbClr val="1F7F70"/>
                </a:solidFill>
                <a:latin typeface="Space Grotesk" pitchFamily="34" charset="0"/>
                <a:ea typeface="Space Grotesk" pitchFamily="34" charset="-122"/>
                <a:cs typeface="Space Grotesk" pitchFamily="34" charset="-120"/>
              </a:rPr>
              <a:t>Members:	· Ujjwal Pratap Singh - 20244166</a:t>
            </a:r>
          </a:p>
          <a:p>
            <a:pPr marL="0" indent="0" algn="l">
              <a:lnSpc>
                <a:spcPts val="1960"/>
              </a:lnSpc>
              <a:buNone/>
            </a:pPr>
            <a:r>
              <a:rPr lang="en-US" sz="1400" dirty="0">
                <a:solidFill>
                  <a:srgbClr val="1F7F70"/>
                </a:solidFill>
                <a:latin typeface="Space Grotesk" pitchFamily="34" charset="0"/>
                <a:ea typeface="Space Grotesk" pitchFamily="34" charset="-122"/>
                <a:cs typeface="Space Grotesk" pitchFamily="34" charset="-120"/>
              </a:rPr>
              <a:t>	· Vaibhav Raj – 20244167</a:t>
            </a:r>
          </a:p>
          <a:p>
            <a:pPr marL="0" indent="0" algn="l">
              <a:lnSpc>
                <a:spcPts val="1960"/>
              </a:lnSpc>
              <a:buNone/>
            </a:pPr>
            <a:endParaRPr lang="en-US" sz="1400" dirty="0">
              <a:solidFill>
                <a:srgbClr val="1F7F70"/>
              </a:solidFill>
              <a:latin typeface="Space Grotesk" pitchFamily="34" charset="0"/>
              <a:ea typeface="Space Grotesk" pitchFamily="34" charset="-122"/>
              <a:cs typeface="Space Grotesk" pitchFamily="34" charset="-120"/>
            </a:endParaRPr>
          </a:p>
          <a:p>
            <a:pPr marL="0" indent="0" algn="l">
              <a:lnSpc>
                <a:spcPts val="1960"/>
              </a:lnSpc>
              <a:buNone/>
            </a:pPr>
            <a:endParaRPr lang="en-US" sz="1400" dirty="0">
              <a:solidFill>
                <a:srgbClr val="1F7F70"/>
              </a:solidFill>
              <a:latin typeface="Space Grotesk" pitchFamily="34" charset="0"/>
              <a:ea typeface="Space Grotesk" pitchFamily="34" charset="-122"/>
              <a:cs typeface="Space Grotesk" pitchFamily="34" charset="-120"/>
            </a:endParaRPr>
          </a:p>
          <a:p>
            <a:pPr marL="0" indent="0" algn="l">
              <a:lnSpc>
                <a:spcPts val="1960"/>
              </a:lnSpc>
              <a:buNone/>
            </a:pPr>
            <a:endParaRPr lang="en-US" sz="1400" dirty="0">
              <a:solidFill>
                <a:srgbClr val="1F7F70"/>
              </a:solidFill>
              <a:latin typeface="Space Grotesk" pitchFamily="34" charset="0"/>
              <a:ea typeface="Space Grotesk" pitchFamily="34" charset="-122"/>
              <a:cs typeface="Space Grotesk" pitchFamily="34" charset="-120"/>
            </a:endParaRPr>
          </a:p>
          <a:p>
            <a:pPr marL="0" indent="0" algn="l">
              <a:lnSpc>
                <a:spcPts val="1960"/>
              </a:lnSpc>
              <a:buNone/>
            </a:pPr>
            <a:r>
              <a:rPr lang="en-US" sz="1400" dirty="0">
                <a:solidFill>
                  <a:srgbClr val="1F7F70"/>
                </a:solidFill>
                <a:latin typeface="Space Grotesk" pitchFamily="34" charset="0"/>
                <a:ea typeface="Space Grotesk" pitchFamily="34" charset="-122"/>
                <a:cs typeface="Space Grotesk" pitchFamily="34" charset="-120"/>
              </a:rPr>
              <a:t>MNNIT ALLAHABAD</a:t>
            </a:r>
          </a:p>
          <a:p>
            <a:pPr marL="0" indent="0" algn="l">
              <a:lnSpc>
                <a:spcPts val="1960"/>
              </a:lnSpc>
              <a:buNone/>
            </a:pPr>
            <a:r>
              <a:rPr lang="en-US" sz="1400" dirty="0">
                <a:solidFill>
                  <a:srgbClr val="1F7F70"/>
                </a:solidFill>
                <a:latin typeface="Space Grotesk" pitchFamily="34" charset="0"/>
                <a:ea typeface="Space Grotesk" pitchFamily="34" charset="-122"/>
                <a:cs typeface="Space Grotesk" pitchFamily="34" charset="-120"/>
              </a:rPr>
              <a:t>ECE B2</a:t>
            </a:r>
          </a:p>
          <a:p>
            <a:pPr marL="0" indent="0" algn="l">
              <a:lnSpc>
                <a:spcPts val="1960"/>
              </a:lnSpc>
              <a:buNone/>
            </a:pPr>
            <a:endParaRPr lang="en-US" sz="1400" dirty="0">
              <a:solidFill>
                <a:srgbClr val="1F7F70"/>
              </a:solidFill>
              <a:latin typeface="Space Grotesk" pitchFamily="34" charset="0"/>
            </a:endParaRPr>
          </a:p>
          <a:p>
            <a:pPr marL="0" indent="0" algn="l">
              <a:lnSpc>
                <a:spcPts val="1960"/>
              </a:lnSpc>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2635377"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Objectives</a:t>
            </a:r>
            <a:endParaRPr lang="en-US" sz="3400" dirty="0"/>
          </a:p>
        </p:txBody>
      </p:sp>
      <p:sp>
        <p:nvSpPr>
          <p:cNvPr id="3" name="Shape 1"/>
          <p:cNvSpPr/>
          <p:nvPr/>
        </p:nvSpPr>
        <p:spPr>
          <a:xfrm>
            <a:off x="819150" y="1548130"/>
            <a:ext cx="5181600" cy="1574800"/>
          </a:xfrm>
          <a:prstGeom prst="roundRect">
            <a:avLst>
              <a:gd name="adj" fmla="val 6048"/>
            </a:avLst>
          </a:prstGeom>
          <a:solidFill>
            <a:srgbClr val="FFFDF8"/>
          </a:solidFill>
          <a:ln w="12700">
            <a:solidFill>
              <a:srgbClr val="DDD5C4"/>
            </a:solidFill>
            <a:prstDash val="solid"/>
          </a:ln>
        </p:spPr>
      </p:sp>
      <p:sp>
        <p:nvSpPr>
          <p:cNvPr id="4" name="Text 2"/>
          <p:cNvSpPr/>
          <p:nvPr/>
        </p:nvSpPr>
        <p:spPr>
          <a:xfrm>
            <a:off x="1051560" y="1780540"/>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Control</a:t>
            </a:r>
            <a:endParaRPr lang="en-US" sz="1800" dirty="0"/>
          </a:p>
        </p:txBody>
      </p:sp>
      <p:sp>
        <p:nvSpPr>
          <p:cNvPr id="5" name="Text 3"/>
          <p:cNvSpPr/>
          <p:nvPr/>
        </p:nvSpPr>
        <p:spPr>
          <a:xfrm>
            <a:off x="1051560" y="2143760"/>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Design a digital logic circuit that moves an elevator through 4 floors, f0 to f3, held in a 2-bit register current_floor.</a:t>
            </a:r>
            <a:endParaRPr lang="en-US" sz="1400" dirty="0"/>
          </a:p>
        </p:txBody>
      </p:sp>
      <p:sp>
        <p:nvSpPr>
          <p:cNvPr id="6" name="Shape 4"/>
          <p:cNvSpPr/>
          <p:nvPr/>
        </p:nvSpPr>
        <p:spPr>
          <a:xfrm>
            <a:off x="6191250" y="1548130"/>
            <a:ext cx="5181600" cy="1574800"/>
          </a:xfrm>
          <a:prstGeom prst="roundRect">
            <a:avLst>
              <a:gd name="adj" fmla="val 6048"/>
            </a:avLst>
          </a:prstGeom>
          <a:solidFill>
            <a:srgbClr val="FFFDF8"/>
          </a:solidFill>
          <a:ln w="12700">
            <a:solidFill>
              <a:srgbClr val="DDD5C4"/>
            </a:solidFill>
            <a:prstDash val="solid"/>
          </a:ln>
        </p:spPr>
      </p:sp>
      <p:sp>
        <p:nvSpPr>
          <p:cNvPr id="7" name="Text 5"/>
          <p:cNvSpPr/>
          <p:nvPr/>
        </p:nvSpPr>
        <p:spPr>
          <a:xfrm>
            <a:off x="6423660" y="1780540"/>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Schedule</a:t>
            </a:r>
            <a:endParaRPr lang="en-US" sz="1800" dirty="0"/>
          </a:p>
        </p:txBody>
      </p:sp>
      <p:sp>
        <p:nvSpPr>
          <p:cNvPr id="8" name="Text 6"/>
          <p:cNvSpPr/>
          <p:nvPr/>
        </p:nvSpPr>
        <p:spPr>
          <a:xfrm>
            <a:off x="6423660" y="2143760"/>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Use the SCAN algorithm so requests are served in the direction of travel before reversing, which cuts waiting time.</a:t>
            </a:r>
            <a:endParaRPr lang="en-US" sz="1400" dirty="0"/>
          </a:p>
        </p:txBody>
      </p:sp>
      <p:sp>
        <p:nvSpPr>
          <p:cNvPr id="9" name="Shape 7"/>
          <p:cNvSpPr/>
          <p:nvPr/>
        </p:nvSpPr>
        <p:spPr>
          <a:xfrm>
            <a:off x="819150" y="3389630"/>
            <a:ext cx="5181600" cy="1574800"/>
          </a:xfrm>
          <a:prstGeom prst="roundRect">
            <a:avLst>
              <a:gd name="adj" fmla="val 6048"/>
            </a:avLst>
          </a:prstGeom>
          <a:solidFill>
            <a:srgbClr val="FFFDF8"/>
          </a:solidFill>
          <a:ln w="12700">
            <a:solidFill>
              <a:srgbClr val="DDD5C4"/>
            </a:solidFill>
            <a:prstDash val="solid"/>
          </a:ln>
        </p:spPr>
      </p:sp>
      <p:sp>
        <p:nvSpPr>
          <p:cNvPr id="10" name="Text 8"/>
          <p:cNvSpPr/>
          <p:nvPr/>
        </p:nvSpPr>
        <p:spPr>
          <a:xfrm>
            <a:off x="1051560" y="3622040"/>
            <a:ext cx="4858283" cy="299720"/>
          </a:xfrm>
          <a:prstGeom prst="rect">
            <a:avLst/>
          </a:prstGeom>
          <a:noFill/>
          <a:ln/>
        </p:spPr>
        <p:txBody>
          <a:bodyPr wrap="square" lIns="0" tIns="0" rIns="0" bIns="0" rtlCol="0" anchor="t">
            <a:normAutofit/>
          </a:bodyPr>
          <a:lstStyle/>
          <a:p>
            <a:pPr marL="0" indent="0" algn="l">
              <a:lnSpc>
                <a:spcPts val="2160"/>
              </a:lnSpc>
              <a:buNone/>
            </a:pPr>
            <a:r>
              <a:rPr lang="en-US" b="1" dirty="0">
                <a:solidFill>
                  <a:srgbClr val="B36B00"/>
                </a:solidFill>
                <a:latin typeface="Space Grotesk" pitchFamily="34" charset="0"/>
              </a:rPr>
              <a:t>Safety and Overrides</a:t>
            </a:r>
            <a:endParaRPr lang="en-US" sz="1800" dirty="0"/>
          </a:p>
        </p:txBody>
      </p:sp>
      <p:sp>
        <p:nvSpPr>
          <p:cNvPr id="11" name="Text 9"/>
          <p:cNvSpPr/>
          <p:nvPr/>
        </p:nvSpPr>
        <p:spPr>
          <a:xfrm>
            <a:off x="1051560" y="3985260"/>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Integrate emergency overload protection(750kg threshold) and manual door hold/ quick close overrides.</a:t>
            </a:r>
            <a:endParaRPr lang="en-US" sz="1400" dirty="0"/>
          </a:p>
        </p:txBody>
      </p:sp>
      <p:sp>
        <p:nvSpPr>
          <p:cNvPr id="12" name="Shape 10"/>
          <p:cNvSpPr/>
          <p:nvPr/>
        </p:nvSpPr>
        <p:spPr>
          <a:xfrm>
            <a:off x="6191250" y="3389630"/>
            <a:ext cx="5181600" cy="1574800"/>
          </a:xfrm>
          <a:prstGeom prst="roundRect">
            <a:avLst>
              <a:gd name="adj" fmla="val 6048"/>
            </a:avLst>
          </a:prstGeom>
          <a:solidFill>
            <a:srgbClr val="FFFDF8"/>
          </a:solidFill>
          <a:ln w="12700">
            <a:solidFill>
              <a:srgbClr val="DDD5C4"/>
            </a:solidFill>
            <a:prstDash val="solid"/>
          </a:ln>
        </p:spPr>
      </p:sp>
      <p:sp>
        <p:nvSpPr>
          <p:cNvPr id="13" name="Text 11"/>
          <p:cNvSpPr/>
          <p:nvPr/>
        </p:nvSpPr>
        <p:spPr>
          <a:xfrm>
            <a:off x="6423660" y="3622040"/>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Peripherals</a:t>
            </a:r>
            <a:endParaRPr lang="en-US" sz="1800" dirty="0"/>
          </a:p>
        </p:txBody>
      </p:sp>
      <p:sp>
        <p:nvSpPr>
          <p:cNvPr id="14" name="Text 12"/>
          <p:cNvSpPr/>
          <p:nvPr/>
        </p:nvSpPr>
        <p:spPr>
          <a:xfrm>
            <a:off x="6423660" y="3985260"/>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Model a 4-phase stepper motor driver, a 7-segment display decoder and an overload sensor input, all verified by simulation in Verilog.</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613630"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Inputs</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51940"/>
          <a:ext cx="10556241" cy="381508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Signal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Width</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Meaning</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63246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move_up_call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Hall button: passenger wants to go up (bits 0 to 2 used)</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63246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move_down_call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Hall button: passenger wants to go down (bits 1 to 3 used)</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63246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req_floor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Button inside the cabin: destination 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open_door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Reopen the door and wait extra time</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close_door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Close the door immediately</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over_weight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Sensor: 1 when load is above 750 kg</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clk, rst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 each</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Clock for stepper and display; reset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7154323"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Outputs and Internal Signals</a:t>
            </a:r>
            <a:endParaRPr lang="en-US" sz="3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51940"/>
          <a:ext cx="10556241" cy="293370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Signal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Width</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Meaning</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current_floor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00 = f0, 01 = f1, 10 = f2, 11 = f3</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direction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 = up, 10 = down, 11 = stop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door_state</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 open, 0 = closed</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over_weight_alert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bit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while the cabin is overloaded</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q</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4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Stepper motor coil pattern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5"/>
                  </a:ext>
                </a:extLst>
              </a:tr>
              <a:tr h="63246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disp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8 bits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Seven-segment pattern for current_floor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4739641"/>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current_floor and direction are internal wires in the top module; they feed the display and the motor.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3372707"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Methodology</a:t>
            </a:r>
            <a:endParaRPr lang="en-US" sz="3400" dirty="0"/>
          </a:p>
        </p:txBody>
      </p:sp>
      <p:sp>
        <p:nvSpPr>
          <p:cNvPr id="3" name="Shape 1"/>
          <p:cNvSpPr/>
          <p:nvPr/>
        </p:nvSpPr>
        <p:spPr>
          <a:xfrm>
            <a:off x="819150" y="1548132"/>
            <a:ext cx="2495550" cy="1325880"/>
          </a:xfrm>
          <a:prstGeom prst="roundRect">
            <a:avLst>
              <a:gd name="adj" fmla="val 7184"/>
            </a:avLst>
          </a:prstGeom>
          <a:solidFill>
            <a:srgbClr val="FFFDF8"/>
          </a:solidFill>
          <a:ln w="12700">
            <a:solidFill>
              <a:srgbClr val="DDD5C4"/>
            </a:solidFill>
            <a:prstDash val="solid"/>
          </a:ln>
        </p:spPr>
      </p:sp>
      <p:sp>
        <p:nvSpPr>
          <p:cNvPr id="4" name="Text 2"/>
          <p:cNvSpPr/>
          <p:nvPr/>
        </p:nvSpPr>
        <p:spPr>
          <a:xfrm>
            <a:off x="1051560" y="1780539"/>
            <a:ext cx="209165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1. Request</a:t>
            </a:r>
            <a:endParaRPr lang="en-US" sz="1800" dirty="0"/>
          </a:p>
        </p:txBody>
      </p:sp>
      <p:sp>
        <p:nvSpPr>
          <p:cNvPr id="5" name="Text 3"/>
          <p:cNvSpPr/>
          <p:nvPr/>
        </p:nvSpPr>
        <p:spPr>
          <a:xfrm>
            <a:off x="1051560" y="2143761"/>
            <a:ext cx="209165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A floor call or in-cabin request is raised.</a:t>
            </a:r>
            <a:endParaRPr lang="en-US" sz="1400" dirty="0"/>
          </a:p>
        </p:txBody>
      </p:sp>
      <p:sp>
        <p:nvSpPr>
          <p:cNvPr id="6" name="Shape 4"/>
          <p:cNvSpPr/>
          <p:nvPr/>
        </p:nvSpPr>
        <p:spPr>
          <a:xfrm>
            <a:off x="3505200" y="1548132"/>
            <a:ext cx="2495550" cy="1325880"/>
          </a:xfrm>
          <a:prstGeom prst="roundRect">
            <a:avLst>
              <a:gd name="adj" fmla="val 7184"/>
            </a:avLst>
          </a:prstGeom>
          <a:solidFill>
            <a:srgbClr val="FFFDF8"/>
          </a:solidFill>
          <a:ln w="12700">
            <a:solidFill>
              <a:srgbClr val="DDD5C4"/>
            </a:solidFill>
            <a:prstDash val="solid"/>
          </a:ln>
        </p:spPr>
      </p:sp>
      <p:sp>
        <p:nvSpPr>
          <p:cNvPr id="7" name="Text 5"/>
          <p:cNvSpPr/>
          <p:nvPr/>
        </p:nvSpPr>
        <p:spPr>
          <a:xfrm>
            <a:off x="3737610" y="1780539"/>
            <a:ext cx="209165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2. Compare</a:t>
            </a:r>
            <a:endParaRPr lang="en-US" sz="1800" dirty="0"/>
          </a:p>
        </p:txBody>
      </p:sp>
      <p:sp>
        <p:nvSpPr>
          <p:cNvPr id="8" name="Text 6"/>
          <p:cNvSpPr/>
          <p:nvPr/>
        </p:nvSpPr>
        <p:spPr>
          <a:xfrm>
            <a:off x="3737610" y="2143761"/>
            <a:ext cx="209165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Equal to current floor: open door.</a:t>
            </a:r>
            <a:endParaRPr lang="en-US" sz="1400" dirty="0"/>
          </a:p>
        </p:txBody>
      </p:sp>
      <p:sp>
        <p:nvSpPr>
          <p:cNvPr id="9" name="Shape 7"/>
          <p:cNvSpPr/>
          <p:nvPr/>
        </p:nvSpPr>
        <p:spPr>
          <a:xfrm>
            <a:off x="6191250" y="1548132"/>
            <a:ext cx="2495550" cy="1325880"/>
          </a:xfrm>
          <a:prstGeom prst="roundRect">
            <a:avLst>
              <a:gd name="adj" fmla="val 7184"/>
            </a:avLst>
          </a:prstGeom>
          <a:solidFill>
            <a:srgbClr val="FFFDF8"/>
          </a:solidFill>
          <a:ln w="12700">
            <a:solidFill>
              <a:srgbClr val="DDD5C4"/>
            </a:solidFill>
            <a:prstDash val="solid"/>
          </a:ln>
        </p:spPr>
      </p:sp>
      <p:sp>
        <p:nvSpPr>
          <p:cNvPr id="10" name="Text 8"/>
          <p:cNvSpPr/>
          <p:nvPr/>
        </p:nvSpPr>
        <p:spPr>
          <a:xfrm>
            <a:off x="6423660" y="1780539"/>
            <a:ext cx="209165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3. Weight</a:t>
            </a:r>
            <a:endParaRPr lang="en-US" sz="1800" dirty="0"/>
          </a:p>
        </p:txBody>
      </p:sp>
      <p:sp>
        <p:nvSpPr>
          <p:cNvPr id="11" name="Text 9"/>
          <p:cNvSpPr/>
          <p:nvPr/>
        </p:nvSpPr>
        <p:spPr>
          <a:xfrm>
            <a:off x="6423660" y="2143761"/>
            <a:ext cx="209165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Over 750 kg: alert and wait.</a:t>
            </a:r>
            <a:endParaRPr lang="en-US" sz="1400" dirty="0"/>
          </a:p>
        </p:txBody>
      </p:sp>
      <p:sp>
        <p:nvSpPr>
          <p:cNvPr id="12" name="Shape 10"/>
          <p:cNvSpPr/>
          <p:nvPr/>
        </p:nvSpPr>
        <p:spPr>
          <a:xfrm>
            <a:off x="8877300" y="1548132"/>
            <a:ext cx="2495550" cy="1325880"/>
          </a:xfrm>
          <a:prstGeom prst="roundRect">
            <a:avLst>
              <a:gd name="adj" fmla="val 7184"/>
            </a:avLst>
          </a:prstGeom>
          <a:solidFill>
            <a:srgbClr val="FFFDF8"/>
          </a:solidFill>
          <a:ln w="12700">
            <a:solidFill>
              <a:srgbClr val="DDD5C4"/>
            </a:solidFill>
            <a:prstDash val="solid"/>
          </a:ln>
        </p:spPr>
      </p:sp>
      <p:sp>
        <p:nvSpPr>
          <p:cNvPr id="13" name="Text 11"/>
          <p:cNvSpPr/>
          <p:nvPr/>
        </p:nvSpPr>
        <p:spPr>
          <a:xfrm>
            <a:off x="9109710" y="1780539"/>
            <a:ext cx="209165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4. Move</a:t>
            </a:r>
            <a:endParaRPr lang="en-US" sz="1800" dirty="0"/>
          </a:p>
        </p:txBody>
      </p:sp>
      <p:sp>
        <p:nvSpPr>
          <p:cNvPr id="14" name="Text 12"/>
          <p:cNvSpPr/>
          <p:nvPr/>
        </p:nvSpPr>
        <p:spPr>
          <a:xfrm>
            <a:off x="9109710" y="2143761"/>
            <a:ext cx="209165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Higher: go up. Lower: go down.</a:t>
            </a:r>
            <a:endParaRPr lang="en-US" sz="1400" dirty="0"/>
          </a:p>
        </p:txBody>
      </p:sp>
      <p:sp>
        <p:nvSpPr>
          <p:cNvPr id="15" name="Shape 13"/>
          <p:cNvSpPr/>
          <p:nvPr/>
        </p:nvSpPr>
        <p:spPr>
          <a:xfrm>
            <a:off x="819150" y="3140711"/>
            <a:ext cx="5181600" cy="1325880"/>
          </a:xfrm>
          <a:prstGeom prst="roundRect">
            <a:avLst>
              <a:gd name="adj" fmla="val 7184"/>
            </a:avLst>
          </a:prstGeom>
          <a:solidFill>
            <a:srgbClr val="FFFDF8"/>
          </a:solidFill>
          <a:ln w="12700">
            <a:solidFill>
              <a:srgbClr val="DDD5C4"/>
            </a:solidFill>
            <a:prstDash val="solid"/>
          </a:ln>
        </p:spPr>
      </p:sp>
      <p:sp>
        <p:nvSpPr>
          <p:cNvPr id="16" name="Text 14"/>
          <p:cNvSpPr/>
          <p:nvPr/>
        </p:nvSpPr>
        <p:spPr>
          <a:xfrm>
            <a:off x="1051560" y="3373121"/>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5. Reopen</a:t>
            </a:r>
            <a:endParaRPr lang="en-US" sz="1800" dirty="0"/>
          </a:p>
        </p:txBody>
      </p:sp>
      <p:sp>
        <p:nvSpPr>
          <p:cNvPr id="17" name="Text 15"/>
          <p:cNvSpPr/>
          <p:nvPr/>
        </p:nvSpPr>
        <p:spPr>
          <a:xfrm>
            <a:off x="1051560" y="3736339"/>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open_door extends the door time; close_door ends it early.</a:t>
            </a:r>
            <a:endParaRPr lang="en-US" sz="1400" dirty="0"/>
          </a:p>
        </p:txBody>
      </p:sp>
      <p:sp>
        <p:nvSpPr>
          <p:cNvPr id="18" name="Shape 16"/>
          <p:cNvSpPr/>
          <p:nvPr/>
        </p:nvSpPr>
        <p:spPr>
          <a:xfrm>
            <a:off x="6191250" y="3140711"/>
            <a:ext cx="5181600" cy="1325880"/>
          </a:xfrm>
          <a:prstGeom prst="roundRect">
            <a:avLst>
              <a:gd name="adj" fmla="val 7184"/>
            </a:avLst>
          </a:prstGeom>
          <a:solidFill>
            <a:srgbClr val="FFFDF8"/>
          </a:solidFill>
          <a:ln w="12700">
            <a:solidFill>
              <a:srgbClr val="DDD5C4"/>
            </a:solidFill>
            <a:prstDash val="solid"/>
          </a:ln>
        </p:spPr>
      </p:sp>
      <p:sp>
        <p:nvSpPr>
          <p:cNvPr id="19" name="Text 17"/>
          <p:cNvSpPr/>
          <p:nvPr/>
        </p:nvSpPr>
        <p:spPr>
          <a:xfrm>
            <a:off x="6423660" y="3373121"/>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6. Repeat</a:t>
            </a:r>
            <a:endParaRPr lang="en-US" sz="1800" dirty="0"/>
          </a:p>
        </p:txBody>
      </p:sp>
      <p:sp>
        <p:nvSpPr>
          <p:cNvPr id="20" name="Text 18"/>
          <p:cNvSpPr/>
          <p:nvPr/>
        </p:nvSpPr>
        <p:spPr>
          <a:xfrm>
            <a:off x="6423660" y="3736339"/>
            <a:ext cx="48582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Cleared requests drop out and the cycle restarts.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3899725"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SCAN Algorithm</a:t>
            </a:r>
            <a:endParaRPr lang="en-US" sz="3400" dirty="0"/>
          </a:p>
        </p:txBody>
      </p:sp>
      <p:sp>
        <p:nvSpPr>
          <p:cNvPr id="3" name="Text 1"/>
          <p:cNvSpPr/>
          <p:nvPr/>
        </p:nvSpPr>
        <p:spPr>
          <a:xfrm>
            <a:off x="812800" y="1541782"/>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5446"/>
                </a:solidFill>
                <a:latin typeface="Space Grotesk" pitchFamily="34" charset="0"/>
                <a:ea typeface="Space Grotesk" pitchFamily="34" charset="-122"/>
                <a:cs typeface="Space Grotesk" pitchFamily="34" charset="-120"/>
              </a:rPr>
              <a:t>The elevator sweeps one way, stopping at every requested floor. At the last request in that direction it reverses. It stops when no request is left.</a:t>
            </a:r>
            <a:endParaRPr lang="en-US" sz="1600" dirty="0"/>
          </a:p>
        </p:txBody>
      </p:sp>
      <p:sp>
        <p:nvSpPr>
          <p:cNvPr id="4" name="Shape 2"/>
          <p:cNvSpPr/>
          <p:nvPr/>
        </p:nvSpPr>
        <p:spPr>
          <a:xfrm>
            <a:off x="819150" y="2371089"/>
            <a:ext cx="51816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2603500"/>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Up sweep</a:t>
            </a:r>
            <a:endParaRPr lang="en-US" sz="1800" dirty="0"/>
          </a:p>
        </p:txBody>
      </p:sp>
      <p:sp>
        <p:nvSpPr>
          <p:cNvPr id="6" name="Text 4"/>
          <p:cNvSpPr/>
          <p:nvPr/>
        </p:nvSpPr>
        <p:spPr>
          <a:xfrm>
            <a:off x="1051560" y="2966721"/>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scan_direction = 1. Scans floors 0 to 3 in upflr_call_arr and flr_req_arr. At floor 3 the direction flips to 0.</a:t>
            </a:r>
            <a:endParaRPr lang="en-US" sz="1400" dirty="0"/>
          </a:p>
        </p:txBody>
      </p:sp>
      <p:sp>
        <p:nvSpPr>
          <p:cNvPr id="7" name="Shape 5"/>
          <p:cNvSpPr/>
          <p:nvPr/>
        </p:nvSpPr>
        <p:spPr>
          <a:xfrm>
            <a:off x="6191250" y="2371089"/>
            <a:ext cx="51816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6423660" y="2603500"/>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Down sweep</a:t>
            </a:r>
            <a:endParaRPr lang="en-US" sz="1800" dirty="0"/>
          </a:p>
        </p:txBody>
      </p:sp>
      <p:sp>
        <p:nvSpPr>
          <p:cNvPr id="9" name="Text 7"/>
          <p:cNvSpPr/>
          <p:nvPr/>
        </p:nvSpPr>
        <p:spPr>
          <a:xfrm>
            <a:off x="6423660" y="2966721"/>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scan_direction = 0. Scans floors 3 to 0 in downflr_call_arr and flr_req_arr. At floor 0 the direction flips to 1.</a:t>
            </a:r>
            <a:endParaRPr lang="en-US" sz="1400" dirty="0"/>
          </a:p>
        </p:txBody>
      </p:sp>
      <p:sp>
        <p:nvSpPr>
          <p:cNvPr id="10" name="Shape 8"/>
          <p:cNvSpPr/>
          <p:nvPr/>
        </p:nvSpPr>
        <p:spPr>
          <a:xfrm>
            <a:off x="819150" y="4212589"/>
            <a:ext cx="10553700" cy="1750060"/>
          </a:xfrm>
          <a:prstGeom prst="roundRect">
            <a:avLst>
              <a:gd name="adj" fmla="val 5443"/>
            </a:avLst>
          </a:prstGeom>
          <a:solidFill>
            <a:srgbClr val="FFFDF8"/>
          </a:solidFill>
          <a:ln w="12700">
            <a:solidFill>
              <a:srgbClr val="DDD5C4"/>
            </a:solidFill>
            <a:prstDash val="solid"/>
          </a:ln>
        </p:spPr>
      </p:sp>
      <p:sp>
        <p:nvSpPr>
          <p:cNvPr id="11" name="Text 9"/>
          <p:cNvSpPr/>
          <p:nvPr/>
        </p:nvSpPr>
        <p:spPr>
          <a:xfrm>
            <a:off x="1051560" y="4445000"/>
            <a:ext cx="1039154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Worked example</a:t>
            </a:r>
            <a:endParaRPr lang="en-US" sz="1800" dirty="0"/>
          </a:p>
        </p:txBody>
      </p:sp>
      <p:sp>
        <p:nvSpPr>
          <p:cNvPr id="12" name="Text 10"/>
          <p:cNvSpPr/>
          <p:nvPr/>
        </p:nvSpPr>
        <p:spPr>
          <a:xfrm>
            <a:off x="1051560" y="4808221"/>
            <a:ext cx="1039154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Elevator at f0, requests for f1 and f3 while another call waits at f2 (up). Up sweep serves f1, f2, f3 in order. If a down call arrives at f1 meanwhile, it waits for the down sweep.</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EFE6"/>
        </a:solidFill>
        <a:effectLst/>
      </p:bgPr>
    </p:bg>
    <p:spTree>
      <p:nvGrpSpPr>
        <p:cNvPr id="1" name="">
          <a:extLst>
            <a:ext uri="{FF2B5EF4-FFF2-40B4-BE49-F238E27FC236}">
              <a16:creationId xmlns:a16="http://schemas.microsoft.com/office/drawing/2014/main" id="{0111F25E-A5B4-2C14-A61B-183E8B9F3440}"/>
            </a:ext>
          </a:extLst>
        </p:cNvPr>
        <p:cNvGrpSpPr/>
        <p:nvPr/>
      </p:nvGrpSpPr>
      <p:grpSpPr>
        <a:xfrm>
          <a:off x="0" y="0"/>
          <a:ext cx="0" cy="0"/>
          <a:chOff x="0" y="0"/>
          <a:chExt cx="0" cy="0"/>
        </a:xfrm>
      </p:grpSpPr>
      <p:pic>
        <p:nvPicPr>
          <p:cNvPr id="7" name="Image 0">
            <a:extLst>
              <a:ext uri="{FF2B5EF4-FFF2-40B4-BE49-F238E27FC236}">
                <a16:creationId xmlns:a16="http://schemas.microsoft.com/office/drawing/2014/main" id="{D5231F04-7A61-599A-C3C2-0A52BF31FBA6}"/>
              </a:ext>
            </a:extLst>
          </p:cNvPr>
          <p:cNvPicPr>
            <a:picLocks noChangeAspect="1"/>
          </p:cNvPicPr>
          <p:nvPr/>
        </p:nvPicPr>
        <p:blipFill>
          <a:blip r:embed="rId3"/>
          <a:srcRect l="-13" r="-13"/>
          <a:stretch/>
        </p:blipFill>
        <p:spPr>
          <a:xfrm>
            <a:off x="635000" y="1018539"/>
            <a:ext cx="10566400" cy="4699000"/>
          </a:xfrm>
          <a:prstGeom prst="rect">
            <a:avLst/>
          </a:prstGeom>
        </p:spPr>
      </p:pic>
      <p:sp>
        <p:nvSpPr>
          <p:cNvPr id="8" name="Text 0">
            <a:extLst>
              <a:ext uri="{FF2B5EF4-FFF2-40B4-BE49-F238E27FC236}">
                <a16:creationId xmlns:a16="http://schemas.microsoft.com/office/drawing/2014/main" id="{D37E7A27-3C9C-9540-04C2-466F137BD516}"/>
              </a:ext>
            </a:extLst>
          </p:cNvPr>
          <p:cNvSpPr>
            <a:spLocks noGrp="1"/>
          </p:cNvSpPr>
          <p:nvPr>
            <p:ph type="title"/>
          </p:nvPr>
        </p:nvSpPr>
        <p:spPr>
          <a:xfrm>
            <a:off x="635000" y="444500"/>
            <a:ext cx="5247037"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161F"/>
                </a:solidFill>
                <a:latin typeface="Space Grotesk" pitchFamily="34" charset="0"/>
                <a:ea typeface="Space Grotesk" pitchFamily="34" charset="-122"/>
                <a:cs typeface="Space Grotesk" pitchFamily="34" charset="-120"/>
              </a:rPr>
              <a:t>System Block Diagram</a:t>
            </a:r>
            <a:endParaRPr lang="en-US" sz="3200" dirty="0"/>
          </a:p>
        </p:txBody>
      </p:sp>
    </p:spTree>
    <p:extLst>
      <p:ext uri="{BB962C8B-B14F-4D97-AF65-F5344CB8AC3E}">
        <p14:creationId xmlns:p14="http://schemas.microsoft.com/office/powerpoint/2010/main" val="2810847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4984719"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Capturing Requests</a:t>
            </a:r>
            <a:endParaRPr lang="en-US" sz="3400" dirty="0"/>
          </a:p>
        </p:txBody>
      </p:sp>
      <p:sp>
        <p:nvSpPr>
          <p:cNvPr id="3" name="Text 1"/>
          <p:cNvSpPr/>
          <p:nvPr/>
        </p:nvSpPr>
        <p:spPr>
          <a:xfrm>
            <a:off x="10392601" y="925832"/>
            <a:ext cx="986600"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4" name="Shape 2"/>
          <p:cNvSpPr/>
          <p:nvPr/>
        </p:nvSpPr>
        <p:spPr>
          <a:xfrm>
            <a:off x="819150" y="1548132"/>
            <a:ext cx="51816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1780539"/>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Storage</a:t>
            </a:r>
            <a:endParaRPr lang="en-US" sz="1800" dirty="0"/>
          </a:p>
        </p:txBody>
      </p:sp>
      <p:sp>
        <p:nvSpPr>
          <p:cNvPr id="6" name="Text 4"/>
          <p:cNvSpPr/>
          <p:nvPr/>
        </p:nvSpPr>
        <p:spPr>
          <a:xfrm>
            <a:off x="1051560" y="2143761"/>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Three 1-bit arrays with 4 slots each: upflr_call_arr, downflr_call_arr, flr_req_arr. Slot index = floor number.</a:t>
            </a:r>
            <a:endParaRPr lang="en-US" sz="1400" dirty="0"/>
          </a:p>
        </p:txBody>
      </p:sp>
      <p:sp>
        <p:nvSpPr>
          <p:cNvPr id="7" name="Shape 5"/>
          <p:cNvSpPr/>
          <p:nvPr/>
        </p:nvSpPr>
        <p:spPr>
          <a:xfrm>
            <a:off x="6191250" y="1548132"/>
            <a:ext cx="51816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6423660" y="1780539"/>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Trigger</a:t>
            </a:r>
            <a:endParaRPr lang="en-US" sz="1800" dirty="0"/>
          </a:p>
        </p:txBody>
      </p:sp>
      <p:sp>
        <p:nvSpPr>
          <p:cNvPr id="9" name="Text 7"/>
          <p:cNvSpPr/>
          <p:nvPr/>
        </p:nvSpPr>
        <p:spPr>
          <a:xfrm>
            <a:off x="6423660" y="2143761"/>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One always block per input group, triggered on posedge of each button bit. If the bit is 1 and its slot is 0, the slot is set to 1.</a:t>
            </a:r>
            <a:endParaRPr lang="en-US" sz="1400" dirty="0"/>
          </a:p>
        </p:txBody>
      </p:sp>
      <p:sp>
        <p:nvSpPr>
          <p:cNvPr id="10" name="Shape 8"/>
          <p:cNvSpPr/>
          <p:nvPr/>
        </p:nvSpPr>
        <p:spPr>
          <a:xfrm>
            <a:off x="819150" y="3389632"/>
            <a:ext cx="5181600" cy="1574800"/>
          </a:xfrm>
          <a:prstGeom prst="roundRect">
            <a:avLst>
              <a:gd name="adj" fmla="val 6048"/>
            </a:avLst>
          </a:prstGeom>
          <a:solidFill>
            <a:srgbClr val="FFFDF8"/>
          </a:solidFill>
          <a:ln w="12700">
            <a:solidFill>
              <a:srgbClr val="DDD5C4"/>
            </a:solidFill>
            <a:prstDash val="solid"/>
          </a:ln>
        </p:spPr>
      </p:sp>
      <p:sp>
        <p:nvSpPr>
          <p:cNvPr id="11" name="Text 9"/>
          <p:cNvSpPr/>
          <p:nvPr/>
        </p:nvSpPr>
        <p:spPr>
          <a:xfrm>
            <a:off x="1051560" y="3622039"/>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Counting</a:t>
            </a:r>
            <a:endParaRPr lang="en-US" sz="1800" dirty="0"/>
          </a:p>
        </p:txBody>
      </p:sp>
      <p:sp>
        <p:nvSpPr>
          <p:cNvPr id="12" name="Text 10"/>
          <p:cNvSpPr/>
          <p:nvPr/>
        </p:nvSpPr>
        <p:spPr>
          <a:xfrm>
            <a:off x="1051560" y="3985261"/>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req_count [3:0] adds 1 per new request. A repeat press is ignored because the slot is already 1.</a:t>
            </a:r>
            <a:endParaRPr lang="en-US" sz="1400" dirty="0"/>
          </a:p>
        </p:txBody>
      </p:sp>
      <p:sp>
        <p:nvSpPr>
          <p:cNvPr id="13" name="Shape 11"/>
          <p:cNvSpPr/>
          <p:nvPr/>
        </p:nvSpPr>
        <p:spPr>
          <a:xfrm>
            <a:off x="6191250" y="3389632"/>
            <a:ext cx="5181600" cy="1574800"/>
          </a:xfrm>
          <a:prstGeom prst="roundRect">
            <a:avLst>
              <a:gd name="adj" fmla="val 6048"/>
            </a:avLst>
          </a:prstGeom>
          <a:solidFill>
            <a:srgbClr val="FFFDF8"/>
          </a:solidFill>
          <a:ln w="12700">
            <a:solidFill>
              <a:srgbClr val="DDD5C4"/>
            </a:solidFill>
            <a:prstDash val="solid"/>
          </a:ln>
        </p:spPr>
      </p:sp>
      <p:sp>
        <p:nvSpPr>
          <p:cNvPr id="14" name="Text 12"/>
          <p:cNvSpPr/>
          <p:nvPr/>
        </p:nvSpPr>
        <p:spPr>
          <a:xfrm>
            <a:off x="6423660" y="3622039"/>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Start flag</a:t>
            </a:r>
            <a:endParaRPr lang="en-US" sz="1800" dirty="0"/>
          </a:p>
        </p:txBody>
      </p:sp>
      <p:sp>
        <p:nvSpPr>
          <p:cNvPr id="15" name="Text 13"/>
          <p:cNvSpPr/>
          <p:nvPr/>
        </p:nvSpPr>
        <p:spPr>
          <a:xfrm>
            <a:off x="6423660" y="3985261"/>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st goes 1 when req_count changes from 0 to 1. This wakes the SCAN block. st returns to 0 when req_count is 0.</a:t>
            </a:r>
            <a:endParaRPr lang="en-US" sz="1400" dirty="0"/>
          </a:p>
        </p:txBody>
      </p:sp>
      <p:sp>
        <p:nvSpPr>
          <p:cNvPr id="16" name="Text 14"/>
          <p:cNvSpPr/>
          <p:nvPr/>
        </p:nvSpPr>
        <p:spPr>
          <a:xfrm>
            <a:off x="812800" y="522477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Mapping: move_up_call[i] to upflr_call_arr[i], move_down_call[i] to downflr_call_arr[i], req_floor[i] to flr_req_arr[i].</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2845784"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SCAN Block</a:t>
            </a:r>
            <a:endParaRPr lang="en-US" sz="3400" dirty="0"/>
          </a:p>
        </p:txBody>
      </p:sp>
      <p:sp>
        <p:nvSpPr>
          <p:cNvPr id="3" name="Text 1"/>
          <p:cNvSpPr/>
          <p:nvPr/>
        </p:nvSpPr>
        <p:spPr>
          <a:xfrm>
            <a:off x="10392601" y="925829"/>
            <a:ext cx="986600"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0" cy="306832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Register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Role</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scan_direction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 = sweeping up, 0 = sweeping down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next_floor [1:0]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Target floor chosen by the loop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x</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Set to 1 to break out of the for loop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goto</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Pulses to wake the movement block</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complete</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Pulses when a floor is served, to rescan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5"/>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d_c</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Start the next sweep from the end floor after a reversal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6"/>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rpt, rpt1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Clock-synchronised retry while requests remain</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812800" y="4874264"/>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Loop: start at current_floor (or at the end floor if d_c = 1), find the first slot that is 1, store its index in next_floor, set goto = 1.</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653091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Movement and Door Logic</a:t>
            </a:r>
            <a:endParaRPr lang="en-US" sz="3400" dirty="0"/>
          </a:p>
        </p:txBody>
      </p:sp>
      <p:sp>
        <p:nvSpPr>
          <p:cNvPr id="3" name="Text 1"/>
          <p:cNvSpPr/>
          <p:nvPr/>
        </p:nvSpPr>
        <p:spPr>
          <a:xfrm>
            <a:off x="10360121" y="925829"/>
            <a:ext cx="1019080"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4" name="Shape 2"/>
          <p:cNvSpPr/>
          <p:nvPr/>
        </p:nvSpPr>
        <p:spPr>
          <a:xfrm>
            <a:off x="819150" y="1548129"/>
            <a:ext cx="51816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Compare</a:t>
            </a:r>
            <a:endParaRPr lang="en-US" sz="1800" dirty="0"/>
          </a:p>
        </p:txBody>
      </p:sp>
      <p:sp>
        <p:nvSpPr>
          <p:cNvPr id="6" name="Text 4"/>
          <p:cNvSpPr/>
          <p:nvPr/>
        </p:nvSpPr>
        <p:spPr>
          <a:xfrm>
            <a:off x="1051560" y="2143764"/>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next_floor equals current_floor: serve. Greater: direction = move_up (01). Less: direction = move_down (10).</a:t>
            </a:r>
            <a:endParaRPr lang="en-US" sz="1400" dirty="0"/>
          </a:p>
        </p:txBody>
      </p:sp>
      <p:sp>
        <p:nvSpPr>
          <p:cNvPr id="7" name="Shape 5"/>
          <p:cNvSpPr/>
          <p:nvPr/>
        </p:nvSpPr>
        <p:spPr>
          <a:xfrm>
            <a:off x="6191250" y="1548129"/>
            <a:ext cx="51816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64236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Travel time</a:t>
            </a:r>
            <a:endParaRPr lang="en-US" sz="1800" dirty="0"/>
          </a:p>
        </p:txBody>
      </p:sp>
      <p:sp>
        <p:nvSpPr>
          <p:cNvPr id="9" name="Text 7"/>
          <p:cNvSpPr/>
          <p:nvPr/>
        </p:nvSpPr>
        <p:spPr>
          <a:xfrm>
            <a:off x="6423660" y="2143764"/>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#300 delay, about 3 s, then current_floor is changed by 1.</a:t>
            </a:r>
            <a:endParaRPr lang="en-US" sz="1400" dirty="0"/>
          </a:p>
        </p:txBody>
      </p:sp>
      <p:sp>
        <p:nvSpPr>
          <p:cNvPr id="10" name="Shape 8"/>
          <p:cNvSpPr/>
          <p:nvPr/>
        </p:nvSpPr>
        <p:spPr>
          <a:xfrm>
            <a:off x="819150" y="3389629"/>
            <a:ext cx="5181600" cy="1574800"/>
          </a:xfrm>
          <a:prstGeom prst="roundRect">
            <a:avLst>
              <a:gd name="adj" fmla="val 6048"/>
            </a:avLst>
          </a:prstGeom>
          <a:solidFill>
            <a:srgbClr val="FFFDF8"/>
          </a:solidFill>
          <a:ln w="12700">
            <a:solidFill>
              <a:srgbClr val="DDD5C4"/>
            </a:solidFill>
            <a:prstDash val="solid"/>
          </a:ln>
        </p:spPr>
      </p:sp>
      <p:sp>
        <p:nvSpPr>
          <p:cNvPr id="11" name="Text 9"/>
          <p:cNvSpPr/>
          <p:nvPr/>
        </p:nvSpPr>
        <p:spPr>
          <a:xfrm>
            <a:off x="10515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Door</a:t>
            </a:r>
            <a:endParaRPr lang="en-US" sz="1800" dirty="0"/>
          </a:p>
        </p:txBody>
      </p:sp>
      <p:sp>
        <p:nvSpPr>
          <p:cNvPr id="12" name="Text 10"/>
          <p:cNvSpPr/>
          <p:nvPr/>
        </p:nvSpPr>
        <p:spPr>
          <a:xfrm>
            <a:off x="1051560" y="3985264"/>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door_state 1 = open, 0 = closed. Normal dwell is 20 x #15, about 3 s.</a:t>
            </a:r>
            <a:endParaRPr lang="en-US" sz="1400" dirty="0"/>
          </a:p>
        </p:txBody>
      </p:sp>
      <p:sp>
        <p:nvSpPr>
          <p:cNvPr id="13" name="Shape 11"/>
          <p:cNvSpPr/>
          <p:nvPr/>
        </p:nvSpPr>
        <p:spPr>
          <a:xfrm>
            <a:off x="6191250" y="3389629"/>
            <a:ext cx="5181600" cy="1574800"/>
          </a:xfrm>
          <a:prstGeom prst="roundRect">
            <a:avLst>
              <a:gd name="adj" fmla="val 6048"/>
            </a:avLst>
          </a:prstGeom>
          <a:solidFill>
            <a:srgbClr val="FFFDF8"/>
          </a:solidFill>
          <a:ln w="12700">
            <a:solidFill>
              <a:srgbClr val="DDD5C4"/>
            </a:solidFill>
            <a:prstDash val="solid"/>
          </a:ln>
        </p:spPr>
      </p:sp>
      <p:sp>
        <p:nvSpPr>
          <p:cNvPr id="14" name="Text 12"/>
          <p:cNvSpPr/>
          <p:nvPr/>
        </p:nvSpPr>
        <p:spPr>
          <a:xfrm>
            <a:off x="64236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Buttons</a:t>
            </a:r>
            <a:endParaRPr lang="en-US" sz="1800" dirty="0"/>
          </a:p>
        </p:txBody>
      </p:sp>
      <p:sp>
        <p:nvSpPr>
          <p:cNvPr id="15" name="Text 13"/>
          <p:cNvSpPr/>
          <p:nvPr/>
        </p:nvSpPr>
        <p:spPr>
          <a:xfrm>
            <a:off x="6423660" y="3985264"/>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open_door is latched in wire_open_door for 20 x #20 extra, about 4 s. close_door is latched in wire_close_door and ends the wait early.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8445341"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Clearing Requests and Overweight</a:t>
            </a:r>
            <a:endParaRPr lang="en-US" sz="3400" dirty="0"/>
          </a:p>
        </p:txBody>
      </p:sp>
      <p:sp>
        <p:nvSpPr>
          <p:cNvPr id="3" name="Text 1"/>
          <p:cNvSpPr/>
          <p:nvPr/>
        </p:nvSpPr>
        <p:spPr>
          <a:xfrm>
            <a:off x="10360121" y="925829"/>
            <a:ext cx="1019080"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4" name="Shape 2"/>
          <p:cNvSpPr/>
          <p:nvPr/>
        </p:nvSpPr>
        <p:spPr>
          <a:xfrm>
            <a:off x="819150" y="1548129"/>
            <a:ext cx="51816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Clearing</a:t>
            </a:r>
            <a:endParaRPr lang="en-US" sz="1800" dirty="0"/>
          </a:p>
        </p:txBody>
      </p:sp>
      <p:sp>
        <p:nvSpPr>
          <p:cNvPr id="6" name="Text 4"/>
          <p:cNvSpPr/>
          <p:nvPr/>
        </p:nvSpPr>
        <p:spPr>
          <a:xfrm>
            <a:off x="1051560" y="2143764"/>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At the served floor cf, the matching array slots are set to 0 and req_count drops by 2 if both slots were set, else by 1. Then complete = 1 restarts SCAN.</a:t>
            </a:r>
            <a:endParaRPr lang="en-US" sz="1400" dirty="0"/>
          </a:p>
        </p:txBody>
      </p:sp>
      <p:sp>
        <p:nvSpPr>
          <p:cNvPr id="7" name="Shape 5"/>
          <p:cNvSpPr/>
          <p:nvPr/>
        </p:nvSpPr>
        <p:spPr>
          <a:xfrm>
            <a:off x="6191250" y="1548129"/>
            <a:ext cx="51816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64236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Overweight</a:t>
            </a:r>
            <a:endParaRPr lang="en-US" sz="1800" dirty="0"/>
          </a:p>
        </p:txBody>
      </p:sp>
      <p:sp>
        <p:nvSpPr>
          <p:cNvPr id="9" name="Text 7"/>
          <p:cNvSpPr/>
          <p:nvPr/>
        </p:nvSpPr>
        <p:spPr>
          <a:xfrm>
            <a:off x="6423660" y="2143764"/>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If over_weight = 1: direction = stop, door_state = open, over_weight_alert = 1. Normal operation resumes when it returns to 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6845998"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Timing and Direction Codes</a:t>
            </a:r>
            <a:endParaRPr lang="en-US" sz="3400" dirty="0"/>
          </a:p>
        </p:txBody>
      </p:sp>
      <p:sp>
        <p:nvSpPr>
          <p:cNvPr id="3" name="Text 1"/>
          <p:cNvSpPr/>
          <p:nvPr/>
        </p:nvSpPr>
        <p:spPr>
          <a:xfrm>
            <a:off x="10360121" y="925829"/>
            <a:ext cx="1019080"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1" cy="191770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Event</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Code</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Time</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Move one 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#300 delay then current_floor ± 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about 3 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Normal door dwell</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20 x #15 loop, door_state = 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about 3 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Extra time (open_door)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20 x #20 loop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about 4 s</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Close early</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wire_close_door = 1 ends the loop</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immediate</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72364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timescale is 10 ms per unit. direction codes: 01 up, 10 down, 11 stop.</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252657"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Stepper Motor Driver</a:t>
            </a:r>
            <a:endParaRPr lang="en-US" sz="3400" dirty="0"/>
          </a:p>
        </p:txBody>
      </p:sp>
      <p:sp>
        <p:nvSpPr>
          <p:cNvPr id="3" name="Text 1"/>
          <p:cNvSpPr/>
          <p:nvPr/>
        </p:nvSpPr>
        <p:spPr>
          <a:xfrm>
            <a:off x="10357834" y="925829"/>
            <a:ext cx="1021366"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sp>
        <p:nvSpPr>
          <p:cNvPr id="4" name="Text 2"/>
          <p:cNvSpPr/>
          <p:nvPr/>
        </p:nvSpPr>
        <p:spPr>
          <a:xfrm>
            <a:off x="812800" y="1541779"/>
            <a:ext cx="1088339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2161F"/>
                </a:solidFill>
                <a:latin typeface="Space Grotesk" pitchFamily="34" charset="0"/>
                <a:ea typeface="Space Grotesk" pitchFamily="34" charset="-122"/>
                <a:cs typeface="Space Grotesk" pitchFamily="34" charset="-120"/>
              </a:rPr>
              <a:t>A stepper motor turns in small steps. Energising its 4 coils in a repeating pattern rotates the shaft; reversing the pattern reverses the rotation.</a:t>
            </a:r>
            <a:endParaRPr lang="en-US" sz="1500" dirty="0"/>
          </a:p>
        </p:txBody>
      </p:sp>
      <p:sp>
        <p:nvSpPr>
          <p:cNvPr id="5" name="Shape 3"/>
          <p:cNvSpPr/>
          <p:nvPr/>
        </p:nvSpPr>
        <p:spPr>
          <a:xfrm>
            <a:off x="819150" y="2335529"/>
            <a:ext cx="3390900" cy="1574800"/>
          </a:xfrm>
          <a:prstGeom prst="roundRect">
            <a:avLst>
              <a:gd name="adj" fmla="val 6048"/>
            </a:avLst>
          </a:prstGeom>
          <a:solidFill>
            <a:srgbClr val="FFFDF8"/>
          </a:solidFill>
          <a:ln w="12700">
            <a:solidFill>
              <a:srgbClr val="DDD5C4"/>
            </a:solidFill>
            <a:prstDash val="solid"/>
          </a:ln>
        </p:spPr>
      </p:sp>
      <p:sp>
        <p:nvSpPr>
          <p:cNvPr id="6" name="Text 4"/>
          <p:cNvSpPr/>
          <p:nvPr/>
        </p:nvSpPr>
        <p:spPr>
          <a:xfrm>
            <a:off x="1051560" y="2567942"/>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Input</a:t>
            </a:r>
            <a:endParaRPr lang="en-US" sz="1800" dirty="0"/>
          </a:p>
        </p:txBody>
      </p:sp>
      <p:sp>
        <p:nvSpPr>
          <p:cNvPr id="7" name="Text 5"/>
          <p:cNvSpPr/>
          <p:nvPr/>
        </p:nvSpPr>
        <p:spPr>
          <a:xfrm>
            <a:off x="1051560" y="2931164"/>
            <a:ext cx="301386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direction [1:0] from the elevator: 01 = up, 10 = down, 11 = stop.</a:t>
            </a:r>
            <a:endParaRPr lang="en-US" sz="1400" dirty="0"/>
          </a:p>
        </p:txBody>
      </p:sp>
      <p:sp>
        <p:nvSpPr>
          <p:cNvPr id="8" name="Shape 6"/>
          <p:cNvSpPr/>
          <p:nvPr/>
        </p:nvSpPr>
        <p:spPr>
          <a:xfrm>
            <a:off x="4400550" y="2335529"/>
            <a:ext cx="3390900" cy="1574800"/>
          </a:xfrm>
          <a:prstGeom prst="roundRect">
            <a:avLst>
              <a:gd name="adj" fmla="val 6048"/>
            </a:avLst>
          </a:prstGeom>
          <a:solidFill>
            <a:srgbClr val="FFFDF8"/>
          </a:solidFill>
          <a:ln w="12700">
            <a:solidFill>
              <a:srgbClr val="DDD5C4"/>
            </a:solidFill>
            <a:prstDash val="solid"/>
          </a:ln>
        </p:spPr>
      </p:sp>
      <p:sp>
        <p:nvSpPr>
          <p:cNvPr id="9" name="Text 7"/>
          <p:cNvSpPr/>
          <p:nvPr/>
        </p:nvSpPr>
        <p:spPr>
          <a:xfrm>
            <a:off x="4632960" y="2567942"/>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Output</a:t>
            </a:r>
            <a:endParaRPr lang="en-US" sz="1800" dirty="0"/>
          </a:p>
        </p:txBody>
      </p:sp>
      <p:sp>
        <p:nvSpPr>
          <p:cNvPr id="10" name="Text 8"/>
          <p:cNvSpPr/>
          <p:nvPr/>
        </p:nvSpPr>
        <p:spPr>
          <a:xfrm>
            <a:off x="4632960" y="2931164"/>
            <a:ext cx="301386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q [3:0], one bit per coil. Initial value q = 4h3.</a:t>
            </a:r>
            <a:endParaRPr lang="en-US" sz="1400" dirty="0"/>
          </a:p>
        </p:txBody>
      </p:sp>
      <p:sp>
        <p:nvSpPr>
          <p:cNvPr id="11" name="Shape 9"/>
          <p:cNvSpPr/>
          <p:nvPr/>
        </p:nvSpPr>
        <p:spPr>
          <a:xfrm>
            <a:off x="7981950" y="2335529"/>
            <a:ext cx="3390900" cy="1574800"/>
          </a:xfrm>
          <a:prstGeom prst="roundRect">
            <a:avLst>
              <a:gd name="adj" fmla="val 6048"/>
            </a:avLst>
          </a:prstGeom>
          <a:solidFill>
            <a:srgbClr val="FFFDF8"/>
          </a:solidFill>
          <a:ln w="12700">
            <a:solidFill>
              <a:srgbClr val="DDD5C4"/>
            </a:solidFill>
            <a:prstDash val="solid"/>
          </a:ln>
        </p:spPr>
      </p:sp>
      <p:sp>
        <p:nvSpPr>
          <p:cNvPr id="12" name="Text 10"/>
          <p:cNvSpPr/>
          <p:nvPr/>
        </p:nvSpPr>
        <p:spPr>
          <a:xfrm>
            <a:off x="8214360" y="2567942"/>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Step counter</a:t>
            </a:r>
            <a:endParaRPr lang="en-US" sz="1800" dirty="0"/>
          </a:p>
        </p:txBody>
      </p:sp>
      <p:sp>
        <p:nvSpPr>
          <p:cNvPr id="13" name="Text 11"/>
          <p:cNvSpPr/>
          <p:nvPr/>
        </p:nvSpPr>
        <p:spPr>
          <a:xfrm>
            <a:off x="8214360" y="2931164"/>
            <a:ext cx="301386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state [1:0] counts 0 to 3 and wraps, adding 1 on every rising clock edge while moving.</a:t>
            </a:r>
            <a:endParaRPr lang="en-US" sz="1400" dirty="0"/>
          </a:p>
        </p:txBody>
      </p:sp>
      <p:sp>
        <p:nvSpPr>
          <p:cNvPr id="14" name="Shape 12"/>
          <p:cNvSpPr/>
          <p:nvPr/>
        </p:nvSpPr>
        <p:spPr>
          <a:xfrm>
            <a:off x="819150" y="4177029"/>
            <a:ext cx="5181600" cy="1325880"/>
          </a:xfrm>
          <a:prstGeom prst="roundRect">
            <a:avLst>
              <a:gd name="adj" fmla="val 7184"/>
            </a:avLst>
          </a:prstGeom>
          <a:solidFill>
            <a:srgbClr val="FFFDF8"/>
          </a:solidFill>
          <a:ln w="12700">
            <a:solidFill>
              <a:srgbClr val="DDD5C4"/>
            </a:solidFill>
            <a:prstDash val="solid"/>
          </a:ln>
        </p:spPr>
      </p:sp>
      <p:sp>
        <p:nvSpPr>
          <p:cNvPr id="15" name="Text 13"/>
          <p:cNvSpPr/>
          <p:nvPr/>
        </p:nvSpPr>
        <p:spPr>
          <a:xfrm>
            <a:off x="1051560" y="44094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While moving</a:t>
            </a:r>
            <a:endParaRPr lang="en-US" sz="1800" dirty="0"/>
          </a:p>
        </p:txBody>
      </p:sp>
      <p:sp>
        <p:nvSpPr>
          <p:cNvPr id="16" name="Text 14"/>
          <p:cNvSpPr/>
          <p:nvPr/>
        </p:nvSpPr>
        <p:spPr>
          <a:xfrm>
            <a:off x="1051560" y="4772664"/>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A case on state picks the next q. The same state gives a different pattern for up and for down.</a:t>
            </a:r>
            <a:endParaRPr lang="en-US" sz="1400" dirty="0"/>
          </a:p>
        </p:txBody>
      </p:sp>
      <p:sp>
        <p:nvSpPr>
          <p:cNvPr id="17" name="Shape 15"/>
          <p:cNvSpPr/>
          <p:nvPr/>
        </p:nvSpPr>
        <p:spPr>
          <a:xfrm>
            <a:off x="6191250" y="4177029"/>
            <a:ext cx="5181600" cy="1325880"/>
          </a:xfrm>
          <a:prstGeom prst="roundRect">
            <a:avLst>
              <a:gd name="adj" fmla="val 7184"/>
            </a:avLst>
          </a:prstGeom>
          <a:solidFill>
            <a:srgbClr val="FFFDF8"/>
          </a:solidFill>
          <a:ln w="12700">
            <a:solidFill>
              <a:srgbClr val="DDD5C4"/>
            </a:solidFill>
            <a:prstDash val="solid"/>
          </a:ln>
        </p:spPr>
      </p:sp>
      <p:sp>
        <p:nvSpPr>
          <p:cNvPr id="18" name="Text 16"/>
          <p:cNvSpPr/>
          <p:nvPr/>
        </p:nvSpPr>
        <p:spPr>
          <a:xfrm>
            <a:off x="6423660" y="44094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While stopped</a:t>
            </a:r>
            <a:endParaRPr lang="en-US" sz="1800" dirty="0"/>
          </a:p>
        </p:txBody>
      </p:sp>
      <p:sp>
        <p:nvSpPr>
          <p:cNvPr id="19" name="Text 17"/>
          <p:cNvSpPr/>
          <p:nvPr/>
        </p:nvSpPr>
        <p:spPr>
          <a:xfrm>
            <a:off x="6423660" y="4772664"/>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direction = 11: q = q. The coils keep their last pattern, so the motor holds position.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3785711"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Step Sequence</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0" cy="1917700"/>
        </p:xfrm>
        <a:graphic>
          <a:graphicData uri="http://schemas.openxmlformats.org/drawingml/2006/table">
            <a:tbl>
              <a:tblPr/>
              <a:tblGrid>
                <a:gridCol w="2639060">
                  <a:extLst>
                    <a:ext uri="{9D8B030D-6E8A-4147-A177-3AD203B41FA5}">
                      <a16:colId xmlns:a16="http://schemas.microsoft.com/office/drawing/2014/main" val="20000"/>
                    </a:ext>
                  </a:extLst>
                </a:gridCol>
                <a:gridCol w="2639060">
                  <a:extLst>
                    <a:ext uri="{9D8B030D-6E8A-4147-A177-3AD203B41FA5}">
                      <a16:colId xmlns:a16="http://schemas.microsoft.com/office/drawing/2014/main" val="20001"/>
                    </a:ext>
                  </a:extLst>
                </a:gridCol>
                <a:gridCol w="2639060">
                  <a:extLst>
                    <a:ext uri="{9D8B030D-6E8A-4147-A177-3AD203B41FA5}">
                      <a16:colId xmlns:a16="http://schemas.microsoft.com/office/drawing/2014/main" val="20002"/>
                    </a:ext>
                  </a:extLst>
                </a:gridCol>
                <a:gridCol w="2639060">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state</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Up (01)</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Down (10)</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Hex up / down</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0011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0110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3 / 6</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1001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1100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9 / C</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1100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1001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C / 9</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3</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0110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0011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6 / 3</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723642"/>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Each pattern turns on two adjacent coils at a time (full-step drive). The up column is the down column in reverse order, which flips the rotation direction.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842254"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Display and Integration</a:t>
            </a:r>
            <a:endParaRPr lang="en-US" sz="3400" dirty="0"/>
          </a:p>
        </p:txBody>
      </p:sp>
      <p:sp>
        <p:nvSpPr>
          <p:cNvPr id="3" name="Text 1"/>
          <p:cNvSpPr/>
          <p:nvPr/>
        </p:nvSpPr>
        <p:spPr>
          <a:xfrm>
            <a:off x="10357834" y="925829"/>
            <a:ext cx="1021366" cy="274320"/>
          </a:xfrm>
          <a:prstGeom prst="rect">
            <a:avLst/>
          </a:prstGeom>
          <a:noFill/>
          <a:ln/>
        </p:spPr>
        <p:txBody>
          <a:bodyPr wrap="square" lIns="0" tIns="0" rIns="0" bIns="0" rtlCol="0" anchor="t">
            <a:normAutofit/>
          </a:bodyPr>
          <a:lstStyle/>
          <a:p>
            <a:pPr marL="0" indent="0" algn="r">
              <a:lnSpc>
                <a:spcPts val="1960"/>
              </a:lnSpc>
              <a:buNone/>
            </a:pP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551939"/>
          <a:ext cx="10556241" cy="191770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current_floor</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disp [7:0]</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marL="0" indent="0">
                        <a:lnSpc>
                          <a:spcPts val="1960"/>
                        </a:lnSpc>
                        <a:buNone/>
                      </a:pPr>
                      <a:r>
                        <a:rPr lang="en-US" sz="1400" b="1" dirty="0">
                          <a:solidFill>
                            <a:srgbClr val="12161F"/>
                          </a:solidFill>
                          <a:latin typeface="Space Grotesk" pitchFamily="34" charset="0"/>
                          <a:ea typeface="Space Grotesk" pitchFamily="34" charset="-122"/>
                          <a:cs typeface="Space Grotesk" pitchFamily="34" charset="-120"/>
                        </a:rPr>
                        <a:t>Shows</a:t>
                      </a:r>
                      <a:endParaRPr lang="en-US" sz="1400" dirty="0">
                        <a:latin typeface="Space Grotesk" charset="0"/>
                        <a:ea typeface="Space Grotesk" charset="0"/>
                        <a:cs typeface="Space Grotesk" charset="0"/>
                      </a:endParaRPr>
                    </a:p>
                  </a:txBody>
                  <a:tcPr marL="62230" marR="62230" marT="62230" marB="62230">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01111111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00000110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10</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01011011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2</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01001111</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marL="0" indent="0">
                        <a:lnSpc>
                          <a:spcPts val="1960"/>
                        </a:lnSpc>
                        <a:buNone/>
                      </a:pPr>
                      <a:r>
                        <a:rPr lang="en-US" sz="1400" dirty="0">
                          <a:solidFill>
                            <a:srgbClr val="12161F"/>
                          </a:solidFill>
                          <a:latin typeface="Space Grotesk" pitchFamily="34" charset="0"/>
                          <a:ea typeface="Space Grotesk" pitchFamily="34" charset="-122"/>
                          <a:cs typeface="Space Grotesk" pitchFamily="34" charset="-120"/>
                        </a:rPr>
                        <a:t>3</a:t>
                      </a:r>
                      <a:endParaRPr lang="en-US" sz="1400" dirty="0">
                        <a:latin typeface="Space Grotesk" charset="0"/>
                        <a:ea typeface="Space Grotesk" charset="0"/>
                        <a:cs typeface="Space Grotesk" charset="0"/>
                      </a:endParaRPr>
                    </a:p>
                  </a:txBody>
                  <a:tcPr marL="62230" marR="62230" marT="62230" marB="62230">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72364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A5446"/>
                </a:solidFill>
                <a:latin typeface="Space Grotesk" pitchFamily="34" charset="0"/>
                <a:ea typeface="Space Grotesk" pitchFamily="34" charset="-122"/>
                <a:cs typeface="Space Grotesk" pitchFamily="34" charset="-120"/>
              </a:rPr>
              <a:t>Combinational case statement on current_floor. Any other value shows 10000000.</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4927759"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Simulation Output 1</a:t>
            </a:r>
            <a:endParaRPr lang="en-US" sz="3400" dirty="0"/>
          </a:p>
        </p:txBody>
      </p:sp>
      <p:sp>
        <p:nvSpPr>
          <p:cNvPr id="3" name="Shape 1"/>
          <p:cNvSpPr/>
          <p:nvPr/>
        </p:nvSpPr>
        <p:spPr>
          <a:xfrm>
            <a:off x="825500" y="1554484"/>
            <a:ext cx="10541000" cy="4932579"/>
          </a:xfrm>
          <a:prstGeom prst="roundRect">
            <a:avLst>
              <a:gd name="adj" fmla="val 2020"/>
            </a:avLst>
          </a:prstGeom>
          <a:noFill/>
          <a:ln w="25400">
            <a:solidFill>
              <a:srgbClr val="B9B09A"/>
            </a:solidFill>
            <a:prstDash val="dash"/>
          </a:ln>
        </p:spPr>
      </p:sp>
      <p:pic>
        <p:nvPicPr>
          <p:cNvPr id="5" name="Picture 4">
            <a:extLst>
              <a:ext uri="{FF2B5EF4-FFF2-40B4-BE49-F238E27FC236}">
                <a16:creationId xmlns:a16="http://schemas.microsoft.com/office/drawing/2014/main" id="{687ADFFC-92D4-E57E-AAAE-2525B8347E11}"/>
              </a:ext>
            </a:extLst>
          </p:cNvPr>
          <p:cNvPicPr>
            <a:picLocks noChangeAspect="1"/>
          </p:cNvPicPr>
          <p:nvPr/>
        </p:nvPicPr>
        <p:blipFill>
          <a:blip r:embed="rId3"/>
          <a:stretch>
            <a:fillRect/>
          </a:stretch>
        </p:blipFill>
        <p:spPr>
          <a:xfrm>
            <a:off x="825500" y="1554485"/>
            <a:ext cx="10541000" cy="493257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50012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Simulation Output 2</a:t>
            </a:r>
            <a:endParaRPr lang="en-US" sz="3400" dirty="0"/>
          </a:p>
        </p:txBody>
      </p:sp>
      <p:sp>
        <p:nvSpPr>
          <p:cNvPr id="3" name="Shape 1"/>
          <p:cNvSpPr/>
          <p:nvPr/>
        </p:nvSpPr>
        <p:spPr>
          <a:xfrm>
            <a:off x="825500" y="1554484"/>
            <a:ext cx="10541000" cy="4892087"/>
          </a:xfrm>
          <a:prstGeom prst="roundRect">
            <a:avLst>
              <a:gd name="adj" fmla="val 2020"/>
            </a:avLst>
          </a:prstGeom>
          <a:noFill/>
          <a:ln w="25400">
            <a:solidFill>
              <a:srgbClr val="B9B09A"/>
            </a:solidFill>
            <a:prstDash val="dash"/>
          </a:ln>
        </p:spPr>
      </p:sp>
      <p:pic>
        <p:nvPicPr>
          <p:cNvPr id="5" name="Picture 4">
            <a:extLst>
              <a:ext uri="{FF2B5EF4-FFF2-40B4-BE49-F238E27FC236}">
                <a16:creationId xmlns:a16="http://schemas.microsoft.com/office/drawing/2014/main" id="{47711E54-52DD-6FDC-3316-C28B0914468A}"/>
              </a:ext>
            </a:extLst>
          </p:cNvPr>
          <p:cNvPicPr>
            <a:picLocks noChangeAspect="1"/>
          </p:cNvPicPr>
          <p:nvPr/>
        </p:nvPicPr>
        <p:blipFill>
          <a:blip r:embed="rId3"/>
          <a:stretch>
            <a:fillRect/>
          </a:stretch>
        </p:blipFill>
        <p:spPr>
          <a:xfrm>
            <a:off x="825500" y="1419100"/>
            <a:ext cx="10541000" cy="502747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2A8D1-EAFB-61C6-3656-0DE564892DF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E48CC4E-28D1-38B7-1DFD-951779B749A3}"/>
              </a:ext>
            </a:extLst>
          </p:cNvPr>
          <p:cNvSpPr>
            <a:spLocks noGrp="1"/>
          </p:cNvSpPr>
          <p:nvPr>
            <p:ph type="title"/>
          </p:nvPr>
        </p:nvSpPr>
        <p:spPr>
          <a:xfrm>
            <a:off x="812800" y="812800"/>
            <a:ext cx="5001292"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Simulation Output 3 </a:t>
            </a:r>
            <a:endParaRPr lang="en-US" sz="3400" dirty="0"/>
          </a:p>
        </p:txBody>
      </p:sp>
      <p:sp>
        <p:nvSpPr>
          <p:cNvPr id="3" name="Shape 1">
            <a:extLst>
              <a:ext uri="{FF2B5EF4-FFF2-40B4-BE49-F238E27FC236}">
                <a16:creationId xmlns:a16="http://schemas.microsoft.com/office/drawing/2014/main" id="{8C4263C9-3264-936C-71BE-A7B69C40B2BD}"/>
              </a:ext>
            </a:extLst>
          </p:cNvPr>
          <p:cNvSpPr/>
          <p:nvPr/>
        </p:nvSpPr>
        <p:spPr>
          <a:xfrm>
            <a:off x="825500" y="1554484"/>
            <a:ext cx="10541000" cy="4892087"/>
          </a:xfrm>
          <a:prstGeom prst="roundRect">
            <a:avLst>
              <a:gd name="adj" fmla="val 2020"/>
            </a:avLst>
          </a:prstGeom>
          <a:noFill/>
          <a:ln w="25400">
            <a:solidFill>
              <a:srgbClr val="B9B09A"/>
            </a:solidFill>
            <a:prstDash val="dash"/>
          </a:ln>
        </p:spPr>
      </p:sp>
      <p:pic>
        <p:nvPicPr>
          <p:cNvPr id="6" name="Picture 5">
            <a:extLst>
              <a:ext uri="{FF2B5EF4-FFF2-40B4-BE49-F238E27FC236}">
                <a16:creationId xmlns:a16="http://schemas.microsoft.com/office/drawing/2014/main" id="{8A445C90-1F96-EDA5-7446-801FC007AE6D}"/>
              </a:ext>
            </a:extLst>
          </p:cNvPr>
          <p:cNvPicPr>
            <a:picLocks noChangeAspect="1"/>
          </p:cNvPicPr>
          <p:nvPr/>
        </p:nvPicPr>
        <p:blipFill>
          <a:blip r:embed="rId3"/>
          <a:stretch>
            <a:fillRect/>
          </a:stretch>
        </p:blipFill>
        <p:spPr>
          <a:xfrm>
            <a:off x="825500" y="1554485"/>
            <a:ext cx="10541000" cy="4892086"/>
          </a:xfrm>
          <a:prstGeom prst="rect">
            <a:avLst/>
          </a:prstGeom>
        </p:spPr>
      </p:pic>
    </p:spTree>
    <p:extLst>
      <p:ext uri="{BB962C8B-B14F-4D97-AF65-F5344CB8AC3E}">
        <p14:creationId xmlns:p14="http://schemas.microsoft.com/office/powerpoint/2010/main" val="978689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862804"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Results</a:t>
            </a:r>
            <a:endParaRPr lang="en-US" sz="3400" dirty="0"/>
          </a:p>
        </p:txBody>
      </p:sp>
      <p:sp>
        <p:nvSpPr>
          <p:cNvPr id="3" name="Shape 1"/>
          <p:cNvSpPr/>
          <p:nvPr/>
        </p:nvSpPr>
        <p:spPr>
          <a:xfrm>
            <a:off x="819150" y="1548135"/>
            <a:ext cx="5181600" cy="1574800"/>
          </a:xfrm>
          <a:prstGeom prst="roundRect">
            <a:avLst>
              <a:gd name="adj" fmla="val 6048"/>
            </a:avLst>
          </a:prstGeom>
          <a:solidFill>
            <a:srgbClr val="FFFDF8"/>
          </a:solidFill>
          <a:ln w="12700">
            <a:solidFill>
              <a:srgbClr val="DDD5C4"/>
            </a:solidFill>
            <a:prstDash val="solid"/>
          </a:ln>
        </p:spPr>
      </p:sp>
      <p:sp>
        <p:nvSpPr>
          <p:cNvPr id="4" name="Text 2"/>
          <p:cNvSpPr/>
          <p:nvPr/>
        </p:nvSpPr>
        <p:spPr>
          <a:xfrm>
            <a:off x="10515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Movement</a:t>
            </a:r>
            <a:endParaRPr lang="en-US" sz="1800" dirty="0"/>
          </a:p>
        </p:txBody>
      </p:sp>
      <p:sp>
        <p:nvSpPr>
          <p:cNvPr id="5" name="Text 3"/>
          <p:cNvSpPr/>
          <p:nvPr/>
        </p:nvSpPr>
        <p:spPr>
          <a:xfrm>
            <a:off x="1051560" y="2143758"/>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While the elevator moves, door_state stays 0 and q cycles through the stepper pattern. Up and down show opposite sequences.</a:t>
            </a:r>
            <a:endParaRPr lang="en-US" sz="1400" dirty="0"/>
          </a:p>
        </p:txBody>
      </p:sp>
      <p:sp>
        <p:nvSpPr>
          <p:cNvPr id="6" name="Shape 4"/>
          <p:cNvSpPr/>
          <p:nvPr/>
        </p:nvSpPr>
        <p:spPr>
          <a:xfrm>
            <a:off x="6191250" y="1548135"/>
            <a:ext cx="5181600" cy="1574800"/>
          </a:xfrm>
          <a:prstGeom prst="roundRect">
            <a:avLst>
              <a:gd name="adj" fmla="val 6048"/>
            </a:avLst>
          </a:prstGeom>
          <a:solidFill>
            <a:srgbClr val="FFFDF8"/>
          </a:solidFill>
          <a:ln w="12700">
            <a:solidFill>
              <a:srgbClr val="DDD5C4"/>
            </a:solidFill>
            <a:prstDash val="solid"/>
          </a:ln>
        </p:spPr>
      </p:sp>
      <p:sp>
        <p:nvSpPr>
          <p:cNvPr id="7" name="Text 5"/>
          <p:cNvSpPr/>
          <p:nvPr/>
        </p:nvSpPr>
        <p:spPr>
          <a:xfrm>
            <a:off x="64236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Arrival</a:t>
            </a:r>
            <a:endParaRPr lang="en-US" sz="1800" dirty="0"/>
          </a:p>
        </p:txBody>
      </p:sp>
      <p:sp>
        <p:nvSpPr>
          <p:cNvPr id="8" name="Text 6"/>
          <p:cNvSpPr/>
          <p:nvPr/>
        </p:nvSpPr>
        <p:spPr>
          <a:xfrm>
            <a:off x="6423660" y="2143758"/>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On reaching the requested floor the motor holds q, the door opens and the display shows the new floor.</a:t>
            </a:r>
            <a:endParaRPr lang="en-US" sz="1400" dirty="0"/>
          </a:p>
        </p:txBody>
      </p:sp>
      <p:sp>
        <p:nvSpPr>
          <p:cNvPr id="9" name="Shape 7"/>
          <p:cNvSpPr/>
          <p:nvPr/>
        </p:nvSpPr>
        <p:spPr>
          <a:xfrm>
            <a:off x="819150" y="3389635"/>
            <a:ext cx="5181600" cy="1325880"/>
          </a:xfrm>
          <a:prstGeom prst="roundRect">
            <a:avLst>
              <a:gd name="adj" fmla="val 7184"/>
            </a:avLst>
          </a:prstGeom>
          <a:solidFill>
            <a:srgbClr val="FFFDF8"/>
          </a:solidFill>
          <a:ln w="12700">
            <a:solidFill>
              <a:srgbClr val="DDD5C4"/>
            </a:solidFill>
            <a:prstDash val="solid"/>
          </a:ln>
        </p:spPr>
      </p:sp>
      <p:sp>
        <p:nvSpPr>
          <p:cNvPr id="10" name="Text 8"/>
          <p:cNvSpPr/>
          <p:nvPr/>
        </p:nvSpPr>
        <p:spPr>
          <a:xfrm>
            <a:off x="10515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Door buttons</a:t>
            </a:r>
            <a:endParaRPr lang="en-US" sz="1800" dirty="0"/>
          </a:p>
        </p:txBody>
      </p:sp>
      <p:sp>
        <p:nvSpPr>
          <p:cNvPr id="11" name="Text 9"/>
          <p:cNvSpPr/>
          <p:nvPr/>
        </p:nvSpPr>
        <p:spPr>
          <a:xfrm>
            <a:off x="1051560" y="3985258"/>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open_door keeps the door open for extra time; close_door shuts it immediately.</a:t>
            </a:r>
            <a:endParaRPr lang="en-US" sz="1400" dirty="0"/>
          </a:p>
        </p:txBody>
      </p:sp>
      <p:sp>
        <p:nvSpPr>
          <p:cNvPr id="12" name="Shape 10"/>
          <p:cNvSpPr/>
          <p:nvPr/>
        </p:nvSpPr>
        <p:spPr>
          <a:xfrm>
            <a:off x="6191250" y="3389635"/>
            <a:ext cx="5181600" cy="1325880"/>
          </a:xfrm>
          <a:prstGeom prst="roundRect">
            <a:avLst>
              <a:gd name="adj" fmla="val 7184"/>
            </a:avLst>
          </a:prstGeom>
          <a:solidFill>
            <a:srgbClr val="FFFDF8"/>
          </a:solidFill>
          <a:ln w="12700">
            <a:solidFill>
              <a:srgbClr val="DDD5C4"/>
            </a:solidFill>
            <a:prstDash val="solid"/>
          </a:ln>
        </p:spPr>
      </p:sp>
      <p:sp>
        <p:nvSpPr>
          <p:cNvPr id="13" name="Text 11"/>
          <p:cNvSpPr/>
          <p:nvPr/>
        </p:nvSpPr>
        <p:spPr>
          <a:xfrm>
            <a:off x="64236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Overload</a:t>
            </a:r>
            <a:endParaRPr lang="en-US" sz="1800" dirty="0"/>
          </a:p>
        </p:txBody>
      </p:sp>
      <p:sp>
        <p:nvSpPr>
          <p:cNvPr id="14" name="Text 12"/>
          <p:cNvSpPr/>
          <p:nvPr/>
        </p:nvSpPr>
        <p:spPr>
          <a:xfrm>
            <a:off x="6423660" y="3985258"/>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With over_weight = 1 the door stays open, direction = stop and over_weight_alert = 1 until the sensor clears.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3051524"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Future Work</a:t>
            </a:r>
            <a:endParaRPr lang="en-US" sz="3400" dirty="0"/>
          </a:p>
        </p:txBody>
      </p:sp>
      <p:sp>
        <p:nvSpPr>
          <p:cNvPr id="3" name="Shape 1"/>
          <p:cNvSpPr/>
          <p:nvPr/>
        </p:nvSpPr>
        <p:spPr>
          <a:xfrm>
            <a:off x="819150" y="1548135"/>
            <a:ext cx="5181600" cy="1574800"/>
          </a:xfrm>
          <a:prstGeom prst="roundRect">
            <a:avLst>
              <a:gd name="adj" fmla="val 6048"/>
            </a:avLst>
          </a:prstGeom>
          <a:solidFill>
            <a:srgbClr val="FFFDF8"/>
          </a:solidFill>
          <a:ln w="12700">
            <a:solidFill>
              <a:srgbClr val="DDD5C4"/>
            </a:solidFill>
            <a:prstDash val="solid"/>
          </a:ln>
        </p:spPr>
      </p:sp>
      <p:sp>
        <p:nvSpPr>
          <p:cNvPr id="4" name="Text 2"/>
          <p:cNvSpPr/>
          <p:nvPr/>
        </p:nvSpPr>
        <p:spPr>
          <a:xfrm>
            <a:off x="10515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FPGA implementation</a:t>
            </a:r>
            <a:endParaRPr lang="en-US" sz="1800" dirty="0"/>
          </a:p>
        </p:txBody>
      </p:sp>
      <p:sp>
        <p:nvSpPr>
          <p:cNvPr id="5" name="Text 3"/>
          <p:cNvSpPr/>
          <p:nvPr/>
        </p:nvSpPr>
        <p:spPr>
          <a:xfrm>
            <a:off x="1051560" y="2143758"/>
            <a:ext cx="485828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Synthesise the design and test it on a development board. Replace the # delays, which are for simulation only, with clock counters.</a:t>
            </a:r>
            <a:endParaRPr lang="en-US" sz="1400" dirty="0"/>
          </a:p>
        </p:txBody>
      </p:sp>
      <p:sp>
        <p:nvSpPr>
          <p:cNvPr id="6" name="Shape 4"/>
          <p:cNvSpPr/>
          <p:nvPr/>
        </p:nvSpPr>
        <p:spPr>
          <a:xfrm>
            <a:off x="6191250" y="1548135"/>
            <a:ext cx="5181600" cy="1574800"/>
          </a:xfrm>
          <a:prstGeom prst="roundRect">
            <a:avLst>
              <a:gd name="adj" fmla="val 6048"/>
            </a:avLst>
          </a:prstGeom>
          <a:solidFill>
            <a:srgbClr val="FFFDF8"/>
          </a:solidFill>
          <a:ln w="12700">
            <a:solidFill>
              <a:srgbClr val="DDD5C4"/>
            </a:solidFill>
            <a:prstDash val="solid"/>
          </a:ln>
        </p:spPr>
      </p:sp>
      <p:sp>
        <p:nvSpPr>
          <p:cNvPr id="7" name="Text 5"/>
          <p:cNvSpPr/>
          <p:nvPr/>
        </p:nvSpPr>
        <p:spPr>
          <a:xfrm>
            <a:off x="6423660" y="17805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Synthesis-friendly rewrite</a:t>
            </a:r>
            <a:endParaRPr lang="en-US" sz="1800" dirty="0"/>
          </a:p>
        </p:txBody>
      </p:sp>
      <p:sp>
        <p:nvSpPr>
          <p:cNvPr id="8" name="Text 6"/>
          <p:cNvSpPr/>
          <p:nvPr/>
        </p:nvSpPr>
        <p:spPr>
          <a:xfrm>
            <a:off x="6423660" y="2143758"/>
            <a:ext cx="485828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Convert the behavioural blocks into a clocked FSM and use rst properly.</a:t>
            </a:r>
            <a:endParaRPr lang="en-US" sz="1400" dirty="0"/>
          </a:p>
        </p:txBody>
      </p:sp>
      <p:sp>
        <p:nvSpPr>
          <p:cNvPr id="9" name="Shape 7"/>
          <p:cNvSpPr/>
          <p:nvPr/>
        </p:nvSpPr>
        <p:spPr>
          <a:xfrm>
            <a:off x="819150" y="3389635"/>
            <a:ext cx="5181600" cy="1076960"/>
          </a:xfrm>
          <a:prstGeom prst="roundRect">
            <a:avLst>
              <a:gd name="adj" fmla="val 8844"/>
            </a:avLst>
          </a:prstGeom>
          <a:solidFill>
            <a:srgbClr val="FFFDF8"/>
          </a:solidFill>
          <a:ln w="12700">
            <a:solidFill>
              <a:srgbClr val="DDD5C4"/>
            </a:solidFill>
            <a:prstDash val="solid"/>
          </a:ln>
        </p:spPr>
      </p:sp>
      <p:sp>
        <p:nvSpPr>
          <p:cNvPr id="10" name="Text 8"/>
          <p:cNvSpPr/>
          <p:nvPr/>
        </p:nvSpPr>
        <p:spPr>
          <a:xfrm>
            <a:off x="10515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More floors</a:t>
            </a:r>
            <a:endParaRPr lang="en-US" sz="1800" dirty="0"/>
          </a:p>
        </p:txBody>
      </p:sp>
      <p:sp>
        <p:nvSpPr>
          <p:cNvPr id="11" name="Text 9"/>
          <p:cNvSpPr/>
          <p:nvPr/>
        </p:nvSpPr>
        <p:spPr>
          <a:xfrm>
            <a:off x="1051560" y="3985258"/>
            <a:ext cx="48582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Widen the floor registers and request arrays.</a:t>
            </a:r>
            <a:endParaRPr lang="en-US" sz="1400" dirty="0"/>
          </a:p>
        </p:txBody>
      </p:sp>
      <p:sp>
        <p:nvSpPr>
          <p:cNvPr id="12" name="Shape 10"/>
          <p:cNvSpPr/>
          <p:nvPr/>
        </p:nvSpPr>
        <p:spPr>
          <a:xfrm>
            <a:off x="6191250" y="3389635"/>
            <a:ext cx="5181600" cy="1076960"/>
          </a:xfrm>
          <a:prstGeom prst="roundRect">
            <a:avLst>
              <a:gd name="adj" fmla="val 8844"/>
            </a:avLst>
          </a:prstGeom>
          <a:solidFill>
            <a:srgbClr val="FFFDF8"/>
          </a:solidFill>
          <a:ln w="12700">
            <a:solidFill>
              <a:srgbClr val="DDD5C4"/>
            </a:solidFill>
            <a:prstDash val="solid"/>
          </a:ln>
        </p:spPr>
      </p:sp>
      <p:sp>
        <p:nvSpPr>
          <p:cNvPr id="13" name="Text 11"/>
          <p:cNvSpPr/>
          <p:nvPr/>
        </p:nvSpPr>
        <p:spPr>
          <a:xfrm>
            <a:off x="6423660" y="3622042"/>
            <a:ext cx="485828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Safety features</a:t>
            </a:r>
            <a:endParaRPr lang="en-US" sz="1800" dirty="0"/>
          </a:p>
        </p:txBody>
      </p:sp>
      <p:sp>
        <p:nvSpPr>
          <p:cNvPr id="14" name="Text 12"/>
          <p:cNvSpPr/>
          <p:nvPr/>
        </p:nvSpPr>
        <p:spPr>
          <a:xfrm>
            <a:off x="6423660" y="3985258"/>
            <a:ext cx="48582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Emergency stop, door sensor, floor position sensors.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3EFE6"/>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2776347" cy="500380"/>
          </a:xfrm>
          <a:prstGeom prst="rect">
            <a:avLst/>
          </a:prstGeom>
          <a:noFill/>
          <a:ln/>
        </p:spPr>
        <p:txBody>
          <a:bodyPr wrap="square" lIns="0" tIns="0" rIns="0" bIns="0" rtlCol="0" anchor="t">
            <a:normAutofit/>
          </a:bodyPr>
          <a:lstStyle/>
          <a:p>
            <a:pPr marL="0" indent="0" algn="l">
              <a:lnSpc>
                <a:spcPts val="3740"/>
              </a:lnSpc>
              <a:buNone/>
            </a:pPr>
            <a:r>
              <a:rPr lang="en-US" sz="3400" b="1" i="0" dirty="0">
                <a:solidFill>
                  <a:srgbClr val="12161F"/>
                </a:solidFill>
                <a:latin typeface="Space Grotesk" pitchFamily="34" charset="0"/>
                <a:ea typeface="Space Grotesk" pitchFamily="34" charset="-122"/>
                <a:cs typeface="Space Grotesk" pitchFamily="34" charset="-120"/>
              </a:rPr>
              <a:t>Conclusion</a:t>
            </a:r>
            <a:endParaRPr lang="en-US" sz="3400" dirty="0"/>
          </a:p>
        </p:txBody>
      </p:sp>
      <p:sp>
        <p:nvSpPr>
          <p:cNvPr id="3" name="Text 1"/>
          <p:cNvSpPr/>
          <p:nvPr/>
        </p:nvSpPr>
        <p:spPr>
          <a:xfrm>
            <a:off x="812800" y="1541785"/>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A5446"/>
                </a:solidFill>
                <a:latin typeface="Space Grotesk" pitchFamily="34" charset="0"/>
                <a:ea typeface="Space Grotesk" pitchFamily="34" charset="-122"/>
                <a:cs typeface="Space Grotesk" pitchFamily="34" charset="-120"/>
              </a:rPr>
              <a:t>We designed and simulated a 4-floor elevator controller in Verilog HDL.</a:t>
            </a:r>
            <a:endParaRPr lang="en-US" sz="1600" dirty="0"/>
          </a:p>
        </p:txBody>
      </p:sp>
      <p:sp>
        <p:nvSpPr>
          <p:cNvPr id="4" name="Shape 2"/>
          <p:cNvSpPr/>
          <p:nvPr/>
        </p:nvSpPr>
        <p:spPr>
          <a:xfrm>
            <a:off x="819150" y="2086608"/>
            <a:ext cx="3390900" cy="1574800"/>
          </a:xfrm>
          <a:prstGeom prst="roundRect">
            <a:avLst>
              <a:gd name="adj" fmla="val 6048"/>
            </a:avLst>
          </a:prstGeom>
          <a:solidFill>
            <a:srgbClr val="FFFDF8"/>
          </a:solidFill>
          <a:ln w="12700">
            <a:solidFill>
              <a:srgbClr val="DDD5C4"/>
            </a:solidFill>
            <a:prstDash val="solid"/>
          </a:ln>
        </p:spPr>
      </p:sp>
      <p:sp>
        <p:nvSpPr>
          <p:cNvPr id="5" name="Text 3"/>
          <p:cNvSpPr/>
          <p:nvPr/>
        </p:nvSpPr>
        <p:spPr>
          <a:xfrm>
            <a:off x="1051560" y="2319027"/>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Scheduling</a:t>
            </a:r>
            <a:endParaRPr lang="en-US" sz="1800" dirty="0"/>
          </a:p>
        </p:txBody>
      </p:sp>
      <p:sp>
        <p:nvSpPr>
          <p:cNvPr id="6" name="Text 4"/>
          <p:cNvSpPr/>
          <p:nvPr/>
        </p:nvSpPr>
        <p:spPr>
          <a:xfrm>
            <a:off x="1051560" y="2682242"/>
            <a:ext cx="301386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SCAN serves requests along the sweep, using three request arrays and req_count.</a:t>
            </a:r>
            <a:endParaRPr lang="en-US" sz="1400" dirty="0"/>
          </a:p>
        </p:txBody>
      </p:sp>
      <p:sp>
        <p:nvSpPr>
          <p:cNvPr id="7" name="Shape 5"/>
          <p:cNvSpPr/>
          <p:nvPr/>
        </p:nvSpPr>
        <p:spPr>
          <a:xfrm>
            <a:off x="4400550" y="2086608"/>
            <a:ext cx="3390900" cy="1574800"/>
          </a:xfrm>
          <a:prstGeom prst="roundRect">
            <a:avLst>
              <a:gd name="adj" fmla="val 6048"/>
            </a:avLst>
          </a:prstGeom>
          <a:solidFill>
            <a:srgbClr val="FFFDF8"/>
          </a:solidFill>
          <a:ln w="12700">
            <a:solidFill>
              <a:srgbClr val="DDD5C4"/>
            </a:solidFill>
            <a:prstDash val="solid"/>
          </a:ln>
        </p:spPr>
      </p:sp>
      <p:sp>
        <p:nvSpPr>
          <p:cNvPr id="8" name="Text 6"/>
          <p:cNvSpPr/>
          <p:nvPr/>
        </p:nvSpPr>
        <p:spPr>
          <a:xfrm>
            <a:off x="4632960" y="2319027"/>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Safety and control</a:t>
            </a:r>
            <a:endParaRPr lang="en-US" sz="1800" dirty="0"/>
          </a:p>
        </p:txBody>
      </p:sp>
      <p:sp>
        <p:nvSpPr>
          <p:cNvPr id="9" name="Text 7"/>
          <p:cNvSpPr/>
          <p:nvPr/>
        </p:nvSpPr>
        <p:spPr>
          <a:xfrm>
            <a:off x="4632960" y="2682242"/>
            <a:ext cx="301386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Door timing, open/close buttons and the overload alert work as intended.</a:t>
            </a:r>
            <a:endParaRPr lang="en-US" sz="1400" dirty="0"/>
          </a:p>
        </p:txBody>
      </p:sp>
      <p:sp>
        <p:nvSpPr>
          <p:cNvPr id="10" name="Shape 8"/>
          <p:cNvSpPr/>
          <p:nvPr/>
        </p:nvSpPr>
        <p:spPr>
          <a:xfrm>
            <a:off x="7981950" y="2086608"/>
            <a:ext cx="3390900" cy="1574800"/>
          </a:xfrm>
          <a:prstGeom prst="roundRect">
            <a:avLst>
              <a:gd name="adj" fmla="val 6048"/>
            </a:avLst>
          </a:prstGeom>
          <a:solidFill>
            <a:srgbClr val="FFFDF8"/>
          </a:solidFill>
          <a:ln w="12700">
            <a:solidFill>
              <a:srgbClr val="DDD5C4"/>
            </a:solidFill>
            <a:prstDash val="solid"/>
          </a:ln>
        </p:spPr>
      </p:sp>
      <p:sp>
        <p:nvSpPr>
          <p:cNvPr id="11" name="Text 9"/>
          <p:cNvSpPr/>
          <p:nvPr/>
        </p:nvSpPr>
        <p:spPr>
          <a:xfrm>
            <a:off x="8214360" y="2319027"/>
            <a:ext cx="301386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36B00"/>
                </a:solidFill>
                <a:latin typeface="Space Grotesk" pitchFamily="34" charset="0"/>
                <a:ea typeface="Space Grotesk" pitchFamily="34" charset="-122"/>
                <a:cs typeface="Space Grotesk" pitchFamily="34" charset="-120"/>
              </a:rPr>
              <a:t>Peripherals</a:t>
            </a:r>
            <a:endParaRPr lang="en-US" sz="1800" dirty="0"/>
          </a:p>
        </p:txBody>
      </p:sp>
      <p:sp>
        <p:nvSpPr>
          <p:cNvPr id="12" name="Text 10"/>
          <p:cNvSpPr/>
          <p:nvPr/>
        </p:nvSpPr>
        <p:spPr>
          <a:xfrm>
            <a:off x="8214360" y="2682242"/>
            <a:ext cx="3013863"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2161F"/>
                </a:solidFill>
                <a:latin typeface="Space Grotesk" pitchFamily="34" charset="0"/>
                <a:ea typeface="Space Grotesk" pitchFamily="34" charset="-122"/>
                <a:cs typeface="Space Grotesk" pitchFamily="34" charset="-120"/>
              </a:rPr>
              <a:t>The stepper driver and 7-segment decoder respond correctly to direction and floor.</a:t>
            </a:r>
            <a:endParaRPr lang="en-US" sz="1400" dirty="0"/>
          </a:p>
        </p:txBody>
      </p:sp>
      <p:sp>
        <p:nvSpPr>
          <p:cNvPr id="13" name="Text 11"/>
          <p:cNvSpPr/>
          <p:nvPr/>
        </p:nvSpPr>
        <p:spPr>
          <a:xfrm>
            <a:off x="812800" y="3921758"/>
            <a:ext cx="10883392" cy="34544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B36B00"/>
                </a:solidFill>
                <a:latin typeface="Space Grotesk" pitchFamily="34" charset="0"/>
                <a:ea typeface="Space Grotesk" pitchFamily="34" charset="-122"/>
                <a:cs typeface="Space Grotesk" pitchFamily="34" charset="-120"/>
              </a:rPr>
              <a:t>Thank you. Questions?</a:t>
            </a:r>
            <a:endParaRPr lang="en-US" sz="1800" dirty="0"/>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1388</TotalTime>
  <Words>2032</Words>
  <Application>Microsoft Office PowerPoint</Application>
  <PresentationFormat>Widescreen</PresentationFormat>
  <Paragraphs>275</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Space Grotesk</vt:lpstr>
      <vt:lpstr>Felix Titling</vt:lpstr>
      <vt:lpstr>Arial</vt:lpstr>
      <vt:lpstr>Goudy Old Style</vt:lpstr>
      <vt:lpstr>Archway</vt:lpstr>
      <vt:lpstr>Elevator Controller in Verilog HDL</vt:lpstr>
      <vt:lpstr>Objectives</vt:lpstr>
      <vt:lpstr>Inputs</vt:lpstr>
      <vt:lpstr>Outputs and Internal Signals</vt:lpstr>
      <vt:lpstr>Methodology</vt:lpstr>
      <vt:lpstr>SCAN Algorithm</vt:lpstr>
      <vt:lpstr>System Block Diagram</vt:lpstr>
      <vt:lpstr>Capturing Requests</vt:lpstr>
      <vt:lpstr>SCAN Block</vt:lpstr>
      <vt:lpstr>Movement and Door Logic</vt:lpstr>
      <vt:lpstr>Clearing Requests and Overweight</vt:lpstr>
      <vt:lpstr>Timing and Direction Codes</vt:lpstr>
      <vt:lpstr>Stepper Motor Driver</vt:lpstr>
      <vt:lpstr>Step Sequence</vt:lpstr>
      <vt:lpstr>Display and Integration</vt:lpstr>
      <vt:lpstr>Simulation Output 1</vt:lpstr>
      <vt:lpstr>Simulation Output 2</vt:lpstr>
      <vt:lpstr>Simulation Output 3 </vt:lpstr>
      <vt:lpstr>Results</vt:lpstr>
      <vt:lpstr>Future Work</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Elevator Controller on FPGA</dc:title>
  <dc:subject/>
  <dc:creator>Ujjwal Pratap Singh</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dc:description>
  <cp:lastModifiedBy>Ujjwal Pratap Singh</cp:lastModifiedBy>
  <cp:revision>3</cp:revision>
  <dcterms:created xsi:type="dcterms:W3CDTF">2026-10-28T19:09:52Z</dcterms:created>
  <dcterms:modified xsi:type="dcterms:W3CDTF">2026-10-29T18:19:28Z</dcterms:modified>
</cp:coreProperties>
</file>